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7" r:id="rId12"/>
    <p:sldId id="264" r:id="rId13"/>
    <p:sldId id="265" r:id="rId14"/>
    <p:sldId id="266" r:id="rId15"/>
    <p:sldId id="267" r:id="rId16"/>
    <p:sldId id="268" r:id="rId17"/>
    <p:sldId id="282" r:id="rId18"/>
    <p:sldId id="270" r:id="rId19"/>
    <p:sldId id="271" r:id="rId20"/>
    <p:sldId id="278" r:id="rId21"/>
    <p:sldId id="272" r:id="rId22"/>
    <p:sldId id="280" r:id="rId23"/>
    <p:sldId id="281" r:id="rId24"/>
    <p:sldId id="273" r:id="rId25"/>
    <p:sldId id="274" r:id="rId26"/>
    <p:sldId id="275" r:id="rId27"/>
    <p:sldId id="276" r:id="rId28"/>
  </p:sldIdLst>
  <p:sldSz cx="12192000" cy="6858000"/>
  <p:notesSz cx="6858000" cy="12192000"/>
  <p:embeddedFontLst>
    <p:embeddedFont>
      <p:font typeface="MiSans" panose="02010600030101010101" charset="-122"/>
      <p:regular r:id="rId32"/>
    </p:embeddedFont>
    <p:embeddedFont>
      <p:font typeface="黑体" panose="02010609060101010101" pitchFamily="49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7BF1"/>
    <a:srgbClr val="0E7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335" autoAdjust="0"/>
  </p:normalViewPr>
  <p:slideViewPr>
    <p:cSldViewPr snapToGrid="0" snapToObjects="1">
      <p:cViewPr>
        <p:scale>
          <a:sx n="66" d="100"/>
          <a:sy n="66" d="100"/>
        </p:scale>
        <p:origin x="50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准确率（%）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airplane</c:v>
                </c:pt>
                <c:pt idx="1">
                  <c:v>automobile</c:v>
                </c:pt>
                <c:pt idx="2">
                  <c:v>bird</c:v>
                </c:pt>
                <c:pt idx="3">
                  <c:v>cat</c:v>
                </c:pt>
                <c:pt idx="4">
                  <c:v>deer</c:v>
                </c:pt>
                <c:pt idx="5">
                  <c:v>dog</c:v>
                </c:pt>
                <c:pt idx="6">
                  <c:v>frog</c:v>
                </c:pt>
                <c:pt idx="7">
                  <c:v>horse</c:v>
                </c:pt>
                <c:pt idx="8">
                  <c:v>ship</c:v>
                </c:pt>
                <c:pt idx="9">
                  <c:v>truck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85.4</c:v>
                </c:pt>
                <c:pt idx="1">
                  <c:v>94.3</c:v>
                </c:pt>
                <c:pt idx="2">
                  <c:v>72.4</c:v>
                </c:pt>
                <c:pt idx="3">
                  <c:v>64.9</c:v>
                </c:pt>
                <c:pt idx="4">
                  <c:v>86.6</c:v>
                </c:pt>
                <c:pt idx="5">
                  <c:v>73.7</c:v>
                </c:pt>
                <c:pt idx="6">
                  <c:v>89.6</c:v>
                </c:pt>
                <c:pt idx="7">
                  <c:v>80.2</c:v>
                </c:pt>
                <c:pt idx="8">
                  <c:v>91.1</c:v>
                </c:pt>
                <c:pt idx="9">
                  <c:v>83.6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0948447"/>
        <c:axId val="1670934559"/>
      </c:barChart>
      <c:catAx>
        <c:axId val="1670948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70934559"/>
        <c:crosses val="autoZero"/>
        <c:auto val="1"/>
        <c:lblAlgn val="ctr"/>
        <c:lblOffset val="100"/>
        <c:noMultiLvlLbl val="0"/>
      </c:catAx>
      <c:valAx>
        <c:axId val="1670934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70948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053d12-213b-41d5-bf8d-8baff8c3f44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>
                <a:solidFill>
                  <a:srgbClr val="4A5565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训练集采用</a:t>
            </a:r>
            <a:r>
              <a:rPr lang="en-US" altLang="zh-CN" sz="12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</a:t>
            </a:r>
            <a:r>
              <a:rPr lang="en-US" altLang="zh-CN" sz="1200" dirty="0" err="1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数据增强</a:t>
            </a:r>
            <a:r>
              <a:rPr lang="en-US" altLang="zh-CN" sz="12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</a:t>
            </a:r>
            <a:r>
              <a:rPr lang="en-US" altLang="zh-CN" sz="1200" dirty="0" err="1">
                <a:solidFill>
                  <a:srgbClr val="4A5565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提升模型鲁棒性，测试集仅做必要处理以保证评估一致性。两阶段均执行</a:t>
            </a:r>
            <a:r>
              <a:rPr lang="en-US" altLang="zh-CN" sz="12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</a:t>
            </a:r>
            <a:r>
              <a:rPr lang="en-US" altLang="zh-CN" sz="1200" dirty="0" err="1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标准化</a:t>
            </a:r>
            <a:r>
              <a:rPr lang="en-US" altLang="zh-CN" sz="12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</a:t>
            </a:r>
            <a:r>
              <a:rPr lang="en-US" altLang="zh-CN" sz="1200" dirty="0">
                <a:solidFill>
                  <a:srgbClr val="4A5565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，</a:t>
            </a:r>
            <a:r>
              <a:rPr lang="en-US" altLang="zh-CN" sz="1200" dirty="0" err="1">
                <a:solidFill>
                  <a:srgbClr val="4A5565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使输入分布一致</a:t>
            </a:r>
            <a:r>
              <a:rPr lang="en-US" altLang="zh-CN" sz="1200" dirty="0">
                <a:solidFill>
                  <a:srgbClr val="4A5565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。</a:t>
            </a:r>
            <a:endParaRPr lang="en-US" altLang="zh-CN" sz="1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5400000" flipH="1">
            <a:off x="-180000" y="6138000"/>
            <a:ext cx="900000" cy="540000"/>
          </a:xfrm>
          <a:prstGeom prst="round2SameRect">
            <a:avLst>
              <a:gd name="adj1" fmla="val 27924"/>
              <a:gd name="adj2" fmla="val 0"/>
            </a:avLst>
          </a:prstGeom>
          <a:gradFill flip="none" rotWithShape="1">
            <a:gsLst>
              <a:gs pos="0">
                <a:srgbClr val="2C53FC"/>
              </a:gs>
              <a:gs pos="51000">
                <a:srgbClr val="2C53FC"/>
              </a:gs>
              <a:gs pos="97000">
                <a:srgbClr val="766BFD"/>
              </a:gs>
              <a:gs pos="100000">
                <a:srgbClr val="766BFD"/>
              </a:gs>
            </a:gsLst>
            <a:lin ang="162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 rot="5400000">
            <a:off x="-180000" y="6138000"/>
            <a:ext cx="900000" cy="540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0" descr="https://kimi-img.moonshot.cn/pub/slides/slides_tmpl/image/25-10-09-17:04:53-d3jnld8s8jdo4os5dja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367" y="6306662"/>
            <a:ext cx="202678" cy="2026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63900" y="6422513"/>
            <a:ext cx="5664200" cy="0"/>
          </a:xfrm>
          <a:prstGeom prst="line">
            <a:avLst/>
          </a:prstGeom>
          <a:noFill/>
          <a:ln w="19050">
            <a:solidFill>
              <a:srgbClr val="E3E1FF">
                <a:alpha val="7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 rot="17760000">
            <a:off x="10877550" y="88265"/>
            <a:ext cx="1242695" cy="1242695"/>
          </a:xfrm>
          <a:prstGeom prst="ellipse">
            <a:avLst/>
          </a:prstGeom>
          <a:gradFill flip="none" rotWithShape="1">
            <a:gsLst>
              <a:gs pos="0">
                <a:srgbClr val="766BFD">
                  <a:alpha val="34000"/>
                </a:srgbClr>
              </a:gs>
              <a:gs pos="76000">
                <a:srgbClr val="766BFD">
                  <a:alpha val="3000"/>
                </a:srgbClr>
              </a:gs>
              <a:gs pos="100000">
                <a:srgbClr val="766BFD">
                  <a:alpha val="300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 rot="17760000">
            <a:off x="10877550" y="88265"/>
            <a:ext cx="1242695" cy="12426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1" descr="https://kimi-img.moonshot.cn/pub/slides/slides_tmpl/image/25-10-09-17:04:53-d3jnld8s8jdo4os5dj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830580"/>
            <a:ext cx="12191365" cy="51504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2640" y="1040130"/>
            <a:ext cx="6099810" cy="2265045"/>
          </a:xfrm>
          <a:prstGeom prst="rect">
            <a:avLst/>
          </a:prstGeom>
          <a:noFill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CIFAR10图像识别项目复盘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58453" y="6156000"/>
            <a:ext cx="2880000" cy="504000"/>
          </a:xfrm>
          <a:custGeom>
            <a:avLst/>
            <a:gdLst/>
            <a:ahLst/>
            <a:cxnLst/>
            <a:rect l="l" t="t" r="r" b="b"/>
            <a:pathLst>
              <a:path w="2880000" h="504000">
                <a:moveTo>
                  <a:pt x="0" y="0"/>
                </a:moveTo>
                <a:lnTo>
                  <a:pt x="2880000" y="0"/>
                </a:lnTo>
                <a:lnTo>
                  <a:pt x="2880000" y="504000"/>
                </a:lnTo>
                <a:lnTo>
                  <a:pt x="0" y="504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58453" y="6156000"/>
            <a:ext cx="2880000" cy="504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汇报日期：2025/12/08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2841" y="3906498"/>
            <a:ext cx="2880000" cy="54539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C53FC"/>
              </a:gs>
              <a:gs pos="87000">
                <a:srgbClr val="36BFE6"/>
              </a:gs>
              <a:gs pos="100000">
                <a:srgbClr val="36BFE6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832841" y="3906498"/>
            <a:ext cx="2880000" cy="5453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zh-CN" altLang="en-US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10-09-17:04:55-d3jnldos8jdo4os5dj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670550" y="932180"/>
            <a:ext cx="7790180" cy="43821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3-d3jnld8s8jdo4os5dj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" y="2162119"/>
            <a:ext cx="1938655" cy="3546952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4:54-d3jnldgs8jdo4os5dj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75" y="2160849"/>
            <a:ext cx="1969135" cy="3548002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7:04:53-d3jnld8s8jdo4os5djc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395" y="2160849"/>
            <a:ext cx="1969135" cy="354800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7:04:53-d3jnld8s8jdo4os5dj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715" y="2160849"/>
            <a:ext cx="1969135" cy="354800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7:04:53-d3jnld8s8jdo4os5djd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7035" y="2160849"/>
            <a:ext cx="1969135" cy="3548002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7:04:54-d3jnldgs8jdo4os5dj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2355" y="2160849"/>
            <a:ext cx="1969135" cy="3548002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91305" y="962467"/>
            <a:ext cx="2084070" cy="10401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0" name="Shape 1"/>
          <p:cNvSpPr/>
          <p:nvPr/>
        </p:nvSpPr>
        <p:spPr>
          <a:xfrm>
            <a:off x="7105834" y="719187"/>
            <a:ext cx="4628517" cy="655662"/>
          </a:xfrm>
          <a:custGeom>
            <a:avLst/>
            <a:gdLst/>
            <a:ahLst/>
            <a:cxnLst/>
            <a:rect l="l" t="t" r="r" b="b"/>
            <a:pathLst>
              <a:path w="4628517" h="655662">
                <a:moveTo>
                  <a:pt x="865138" y="117053"/>
                </a:moveTo>
                <a:cubicBezTo>
                  <a:pt x="812205" y="117053"/>
                  <a:pt x="770527" y="136698"/>
                  <a:pt x="740104" y="175989"/>
                </a:cubicBezTo>
                <a:cubicBezTo>
                  <a:pt x="709681" y="215280"/>
                  <a:pt x="694469" y="266166"/>
                  <a:pt x="694469" y="328649"/>
                </a:cubicBezTo>
                <a:cubicBezTo>
                  <a:pt x="694469" y="390314"/>
                  <a:pt x="709340" y="440723"/>
                  <a:pt x="739080" y="479877"/>
                </a:cubicBezTo>
                <a:cubicBezTo>
                  <a:pt x="768821" y="519032"/>
                  <a:pt x="809613" y="538609"/>
                  <a:pt x="861454" y="538609"/>
                </a:cubicBezTo>
                <a:cubicBezTo>
                  <a:pt x="914388" y="538609"/>
                  <a:pt x="955588" y="519850"/>
                  <a:pt x="985056" y="482333"/>
                </a:cubicBezTo>
                <a:cubicBezTo>
                  <a:pt x="1014524" y="444816"/>
                  <a:pt x="1029258" y="394407"/>
                  <a:pt x="1029258" y="331105"/>
                </a:cubicBezTo>
                <a:cubicBezTo>
                  <a:pt x="1029258" y="265075"/>
                  <a:pt x="1014933" y="212892"/>
                  <a:pt x="986284" y="174557"/>
                </a:cubicBezTo>
                <a:cubicBezTo>
                  <a:pt x="957634" y="136221"/>
                  <a:pt x="917253" y="117053"/>
                  <a:pt x="865138" y="117053"/>
                </a:cubicBezTo>
                <a:close/>
                <a:moveTo>
                  <a:pt x="3647480" y="10641"/>
                </a:moveTo>
                <a:lnTo>
                  <a:pt x="4144342" y="10641"/>
                </a:lnTo>
                <a:lnTo>
                  <a:pt x="4144342" y="121146"/>
                </a:lnTo>
                <a:lnTo>
                  <a:pt x="3963442" y="121146"/>
                </a:lnTo>
                <a:lnTo>
                  <a:pt x="3963442" y="644612"/>
                </a:lnTo>
                <a:lnTo>
                  <a:pt x="3827971" y="644612"/>
                </a:lnTo>
                <a:lnTo>
                  <a:pt x="3827971" y="121146"/>
                </a:lnTo>
                <a:lnTo>
                  <a:pt x="3647480" y="121146"/>
                </a:lnTo>
                <a:close/>
                <a:moveTo>
                  <a:pt x="2992450" y="10641"/>
                </a:moveTo>
                <a:lnTo>
                  <a:pt x="3139790" y="10641"/>
                </a:lnTo>
                <a:lnTo>
                  <a:pt x="3398453" y="409277"/>
                </a:lnTo>
                <a:cubicBezTo>
                  <a:pt x="3415643" y="435744"/>
                  <a:pt x="3426147" y="452524"/>
                  <a:pt x="3429968" y="459618"/>
                </a:cubicBezTo>
                <a:lnTo>
                  <a:pt x="3432014" y="459618"/>
                </a:lnTo>
                <a:cubicBezTo>
                  <a:pt x="3429285" y="444338"/>
                  <a:pt x="3427921" y="415143"/>
                  <a:pt x="3427921" y="372033"/>
                </a:cubicBezTo>
                <a:lnTo>
                  <a:pt x="3427921" y="10641"/>
                </a:lnTo>
                <a:lnTo>
                  <a:pt x="3556025" y="10641"/>
                </a:lnTo>
                <a:lnTo>
                  <a:pt x="3556025" y="644612"/>
                </a:lnTo>
                <a:lnTo>
                  <a:pt x="3417689" y="644612"/>
                </a:lnTo>
                <a:lnTo>
                  <a:pt x="3149203" y="234516"/>
                </a:lnTo>
                <a:cubicBezTo>
                  <a:pt x="3135288" y="213233"/>
                  <a:pt x="3125192" y="196044"/>
                  <a:pt x="3118916" y="182947"/>
                </a:cubicBezTo>
                <a:lnTo>
                  <a:pt x="3116870" y="182947"/>
                </a:lnTo>
                <a:cubicBezTo>
                  <a:pt x="3119326" y="204775"/>
                  <a:pt x="3120554" y="238472"/>
                  <a:pt x="3120554" y="284038"/>
                </a:cubicBezTo>
                <a:lnTo>
                  <a:pt x="3120554" y="644612"/>
                </a:lnTo>
                <a:lnTo>
                  <a:pt x="2992450" y="644612"/>
                </a:lnTo>
                <a:close/>
                <a:moveTo>
                  <a:pt x="2516200" y="10641"/>
                </a:moveTo>
                <a:lnTo>
                  <a:pt x="2876773" y="10641"/>
                </a:lnTo>
                <a:lnTo>
                  <a:pt x="2876773" y="121146"/>
                </a:lnTo>
                <a:lnTo>
                  <a:pt x="2651261" y="121146"/>
                </a:lnTo>
                <a:lnTo>
                  <a:pt x="2651261" y="270532"/>
                </a:lnTo>
                <a:lnTo>
                  <a:pt x="2860811" y="270532"/>
                </a:lnTo>
                <a:lnTo>
                  <a:pt x="2860811" y="380628"/>
                </a:lnTo>
                <a:lnTo>
                  <a:pt x="2651261" y="380628"/>
                </a:lnTo>
                <a:lnTo>
                  <a:pt x="2651261" y="534107"/>
                </a:lnTo>
                <a:lnTo>
                  <a:pt x="2891507" y="534107"/>
                </a:lnTo>
                <a:lnTo>
                  <a:pt x="2891507" y="644612"/>
                </a:lnTo>
                <a:lnTo>
                  <a:pt x="2516200" y="644612"/>
                </a:lnTo>
                <a:close/>
                <a:moveTo>
                  <a:pt x="1932980" y="10641"/>
                </a:moveTo>
                <a:lnTo>
                  <a:pt x="2429842" y="10641"/>
                </a:lnTo>
                <a:lnTo>
                  <a:pt x="2429842" y="121146"/>
                </a:lnTo>
                <a:lnTo>
                  <a:pt x="2248942" y="121146"/>
                </a:lnTo>
                <a:lnTo>
                  <a:pt x="2248942" y="644612"/>
                </a:lnTo>
                <a:lnTo>
                  <a:pt x="2113471" y="644612"/>
                </a:lnTo>
                <a:lnTo>
                  <a:pt x="2113471" y="121146"/>
                </a:lnTo>
                <a:lnTo>
                  <a:pt x="1932980" y="121146"/>
                </a:lnTo>
                <a:close/>
                <a:moveTo>
                  <a:pt x="1277950" y="10641"/>
                </a:moveTo>
                <a:lnTo>
                  <a:pt x="1425290" y="10641"/>
                </a:lnTo>
                <a:lnTo>
                  <a:pt x="1683953" y="409277"/>
                </a:lnTo>
                <a:cubicBezTo>
                  <a:pt x="1701143" y="435744"/>
                  <a:pt x="1711647" y="452524"/>
                  <a:pt x="1715467" y="459618"/>
                </a:cubicBezTo>
                <a:lnTo>
                  <a:pt x="1717514" y="459618"/>
                </a:lnTo>
                <a:cubicBezTo>
                  <a:pt x="1714785" y="444338"/>
                  <a:pt x="1713421" y="415143"/>
                  <a:pt x="1713421" y="372033"/>
                </a:cubicBezTo>
                <a:lnTo>
                  <a:pt x="1713421" y="10641"/>
                </a:lnTo>
                <a:lnTo>
                  <a:pt x="1841525" y="10641"/>
                </a:lnTo>
                <a:lnTo>
                  <a:pt x="1841525" y="644612"/>
                </a:lnTo>
                <a:lnTo>
                  <a:pt x="1703189" y="644612"/>
                </a:lnTo>
                <a:lnTo>
                  <a:pt x="1434703" y="234516"/>
                </a:lnTo>
                <a:cubicBezTo>
                  <a:pt x="1420788" y="213233"/>
                  <a:pt x="1410692" y="196044"/>
                  <a:pt x="1404417" y="182947"/>
                </a:cubicBezTo>
                <a:lnTo>
                  <a:pt x="1402370" y="182947"/>
                </a:lnTo>
                <a:cubicBezTo>
                  <a:pt x="1404826" y="204775"/>
                  <a:pt x="1406054" y="238472"/>
                  <a:pt x="1406054" y="284038"/>
                </a:cubicBezTo>
                <a:lnTo>
                  <a:pt x="1406054" y="644612"/>
                </a:lnTo>
                <a:lnTo>
                  <a:pt x="1277950" y="644612"/>
                </a:lnTo>
                <a:close/>
                <a:moveTo>
                  <a:pt x="4444752" y="0"/>
                </a:moveTo>
                <a:cubicBezTo>
                  <a:pt x="4506689" y="0"/>
                  <a:pt x="4558667" y="8049"/>
                  <a:pt x="4600687" y="24147"/>
                </a:cubicBezTo>
                <a:lnTo>
                  <a:pt x="4600687" y="151023"/>
                </a:lnTo>
                <a:cubicBezTo>
                  <a:pt x="4558122" y="122101"/>
                  <a:pt x="4508326" y="107640"/>
                  <a:pt x="4451300" y="107640"/>
                </a:cubicBezTo>
                <a:cubicBezTo>
                  <a:pt x="4418013" y="107640"/>
                  <a:pt x="4391410" y="113711"/>
                  <a:pt x="4371491" y="125852"/>
                </a:cubicBezTo>
                <a:cubicBezTo>
                  <a:pt x="4351573" y="137994"/>
                  <a:pt x="4341614" y="154297"/>
                  <a:pt x="4341614" y="174761"/>
                </a:cubicBezTo>
                <a:cubicBezTo>
                  <a:pt x="4341614" y="191132"/>
                  <a:pt x="4348435" y="206207"/>
                  <a:pt x="4362078" y="219986"/>
                </a:cubicBezTo>
                <a:cubicBezTo>
                  <a:pt x="4375720" y="233765"/>
                  <a:pt x="4409418" y="252387"/>
                  <a:pt x="4463169" y="275853"/>
                </a:cubicBezTo>
                <a:cubicBezTo>
                  <a:pt x="4526198" y="302865"/>
                  <a:pt x="4569513" y="331378"/>
                  <a:pt x="4593115" y="361392"/>
                </a:cubicBezTo>
                <a:cubicBezTo>
                  <a:pt x="4616717" y="391405"/>
                  <a:pt x="4628517" y="427149"/>
                  <a:pt x="4628517" y="468622"/>
                </a:cubicBezTo>
                <a:cubicBezTo>
                  <a:pt x="4628517" y="529468"/>
                  <a:pt x="4606962" y="575853"/>
                  <a:pt x="4563852" y="607777"/>
                </a:cubicBezTo>
                <a:cubicBezTo>
                  <a:pt x="4520741" y="639700"/>
                  <a:pt x="4459486" y="655662"/>
                  <a:pt x="4380086" y="655662"/>
                </a:cubicBezTo>
                <a:cubicBezTo>
                  <a:pt x="4307508" y="655662"/>
                  <a:pt x="4248026" y="643929"/>
                  <a:pt x="4201641" y="620464"/>
                </a:cubicBezTo>
                <a:lnTo>
                  <a:pt x="4201641" y="484993"/>
                </a:lnTo>
                <a:cubicBezTo>
                  <a:pt x="4252665" y="527285"/>
                  <a:pt x="4310645" y="548431"/>
                  <a:pt x="4375584" y="548431"/>
                </a:cubicBezTo>
                <a:cubicBezTo>
                  <a:pt x="4412419" y="548431"/>
                  <a:pt x="4440114" y="542088"/>
                  <a:pt x="4458667" y="529400"/>
                </a:cubicBezTo>
                <a:cubicBezTo>
                  <a:pt x="4477221" y="516712"/>
                  <a:pt x="4486498" y="500410"/>
                  <a:pt x="4486498" y="480491"/>
                </a:cubicBezTo>
                <a:cubicBezTo>
                  <a:pt x="4486498" y="463302"/>
                  <a:pt x="4479131" y="447067"/>
                  <a:pt x="4464397" y="431787"/>
                </a:cubicBezTo>
                <a:cubicBezTo>
                  <a:pt x="4449663" y="416508"/>
                  <a:pt x="4410782" y="395771"/>
                  <a:pt x="4347753" y="369577"/>
                </a:cubicBezTo>
                <a:cubicBezTo>
                  <a:pt x="4248708" y="327558"/>
                  <a:pt x="4199186" y="266439"/>
                  <a:pt x="4199186" y="186221"/>
                </a:cubicBezTo>
                <a:cubicBezTo>
                  <a:pt x="4199186" y="127285"/>
                  <a:pt x="4221627" y="81514"/>
                  <a:pt x="4266512" y="48908"/>
                </a:cubicBezTo>
                <a:cubicBezTo>
                  <a:pt x="4311396" y="16303"/>
                  <a:pt x="4370809" y="0"/>
                  <a:pt x="4444752" y="0"/>
                </a:cubicBezTo>
                <a:close/>
                <a:moveTo>
                  <a:pt x="869231" y="0"/>
                </a:moveTo>
                <a:cubicBezTo>
                  <a:pt x="959817" y="0"/>
                  <a:pt x="1032737" y="30150"/>
                  <a:pt x="1087989" y="90450"/>
                </a:cubicBezTo>
                <a:cubicBezTo>
                  <a:pt x="1143242" y="150750"/>
                  <a:pt x="1170868" y="228240"/>
                  <a:pt x="1170868" y="322920"/>
                </a:cubicBezTo>
                <a:cubicBezTo>
                  <a:pt x="1170868" y="421692"/>
                  <a:pt x="1142150" y="501842"/>
                  <a:pt x="1084715" y="563370"/>
                </a:cubicBezTo>
                <a:cubicBezTo>
                  <a:pt x="1027280" y="624898"/>
                  <a:pt x="952041" y="655662"/>
                  <a:pt x="858999" y="655662"/>
                </a:cubicBezTo>
                <a:cubicBezTo>
                  <a:pt x="768139" y="655662"/>
                  <a:pt x="694333" y="625853"/>
                  <a:pt x="637580" y="566235"/>
                </a:cubicBezTo>
                <a:cubicBezTo>
                  <a:pt x="580827" y="506617"/>
                  <a:pt x="552450" y="429877"/>
                  <a:pt x="552450" y="336016"/>
                </a:cubicBezTo>
                <a:cubicBezTo>
                  <a:pt x="552450" y="236698"/>
                  <a:pt x="581440" y="155866"/>
                  <a:pt x="639421" y="93520"/>
                </a:cubicBezTo>
                <a:cubicBezTo>
                  <a:pt x="697402" y="31173"/>
                  <a:pt x="774005" y="0"/>
                  <a:pt x="869231" y="0"/>
                </a:cubicBezTo>
                <a:close/>
                <a:moveTo>
                  <a:pt x="336426" y="0"/>
                </a:moveTo>
                <a:cubicBezTo>
                  <a:pt x="398363" y="0"/>
                  <a:pt x="450205" y="8049"/>
                  <a:pt x="491951" y="24147"/>
                </a:cubicBezTo>
                <a:lnTo>
                  <a:pt x="491951" y="154707"/>
                </a:lnTo>
                <a:cubicBezTo>
                  <a:pt x="449114" y="129604"/>
                  <a:pt x="400546" y="117053"/>
                  <a:pt x="346249" y="117053"/>
                </a:cubicBezTo>
                <a:cubicBezTo>
                  <a:pt x="284311" y="117053"/>
                  <a:pt x="234789" y="136835"/>
                  <a:pt x="197681" y="176398"/>
                </a:cubicBezTo>
                <a:cubicBezTo>
                  <a:pt x="160573" y="215962"/>
                  <a:pt x="142019" y="267667"/>
                  <a:pt x="142019" y="331514"/>
                </a:cubicBezTo>
                <a:cubicBezTo>
                  <a:pt x="142019" y="393725"/>
                  <a:pt x="159618" y="443793"/>
                  <a:pt x="194816" y="481719"/>
                </a:cubicBezTo>
                <a:cubicBezTo>
                  <a:pt x="230014" y="519646"/>
                  <a:pt x="277626" y="538609"/>
                  <a:pt x="337654" y="538609"/>
                </a:cubicBezTo>
                <a:cubicBezTo>
                  <a:pt x="394134" y="538609"/>
                  <a:pt x="445567" y="524966"/>
                  <a:pt x="491951" y="497681"/>
                </a:cubicBezTo>
                <a:lnTo>
                  <a:pt x="491951" y="621692"/>
                </a:lnTo>
                <a:cubicBezTo>
                  <a:pt x="445839" y="644339"/>
                  <a:pt x="385676" y="655662"/>
                  <a:pt x="311460" y="655662"/>
                </a:cubicBezTo>
                <a:cubicBezTo>
                  <a:pt x="215962" y="655662"/>
                  <a:pt x="140177" y="627081"/>
                  <a:pt x="84106" y="569918"/>
                </a:cubicBezTo>
                <a:cubicBezTo>
                  <a:pt x="28035" y="512756"/>
                  <a:pt x="0" y="436562"/>
                  <a:pt x="0" y="341337"/>
                </a:cubicBezTo>
                <a:cubicBezTo>
                  <a:pt x="0" y="241201"/>
                  <a:pt x="31310" y="159277"/>
                  <a:pt x="93929" y="95566"/>
                </a:cubicBezTo>
                <a:cubicBezTo>
                  <a:pt x="156549" y="31855"/>
                  <a:pt x="237381" y="0"/>
                  <a:pt x="336426" y="0"/>
                </a:cubicBezTo>
                <a:close/>
              </a:path>
            </a:pathLst>
          </a:custGeom>
          <a:solidFill>
            <a:srgbClr val="7DB6D9">
              <a:alpha val="10196"/>
            </a:srgbClr>
          </a:solidFill>
          <a:ln w="19050">
            <a:solidFill>
              <a:srgbClr val="F3F7FA">
                <a:alpha val="14902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2"/>
          <p:cNvSpPr/>
          <p:nvPr/>
        </p:nvSpPr>
        <p:spPr>
          <a:xfrm>
            <a:off x="7105834" y="719187"/>
            <a:ext cx="4628517" cy="65566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462915" y="4101409"/>
            <a:ext cx="1617980" cy="8058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2000" dirty="0"/>
          </a:p>
        </p:txBody>
      </p:sp>
      <p:sp>
        <p:nvSpPr>
          <p:cNvPr id="13" name="Text 4"/>
          <p:cNvSpPr/>
          <p:nvPr/>
        </p:nvSpPr>
        <p:spPr>
          <a:xfrm>
            <a:off x="2407285" y="4101409"/>
            <a:ext cx="1617980" cy="436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数据准备</a:t>
            </a:r>
            <a:endParaRPr lang="en-US" sz="2000" dirty="0"/>
          </a:p>
        </p:txBody>
      </p:sp>
      <p:sp>
        <p:nvSpPr>
          <p:cNvPr id="14" name="Text 5"/>
          <p:cNvSpPr/>
          <p:nvPr/>
        </p:nvSpPr>
        <p:spPr>
          <a:xfrm>
            <a:off x="4351655" y="4101409"/>
            <a:ext cx="1617980" cy="436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模型设计</a:t>
            </a:r>
            <a:endParaRPr lang="en-US" sz="2000" dirty="0"/>
          </a:p>
        </p:txBody>
      </p:sp>
      <p:sp>
        <p:nvSpPr>
          <p:cNvPr id="15" name="Text 6"/>
          <p:cNvSpPr/>
          <p:nvPr/>
        </p:nvSpPr>
        <p:spPr>
          <a:xfrm>
            <a:off x="6219190" y="4101409"/>
            <a:ext cx="1617980" cy="436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训练策略</a:t>
            </a:r>
            <a:endParaRPr lang="en-US" sz="2000" dirty="0"/>
          </a:p>
        </p:txBody>
      </p:sp>
      <p:sp>
        <p:nvSpPr>
          <p:cNvPr id="16" name="Text 7"/>
          <p:cNvSpPr/>
          <p:nvPr/>
        </p:nvSpPr>
        <p:spPr>
          <a:xfrm>
            <a:off x="8202295" y="4101409"/>
            <a:ext cx="1617980" cy="436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结果分析</a:t>
            </a:r>
            <a:endParaRPr lang="en-US" sz="2000" dirty="0"/>
          </a:p>
        </p:txBody>
      </p:sp>
      <p:sp>
        <p:nvSpPr>
          <p:cNvPr id="17" name="Text 8"/>
          <p:cNvSpPr/>
          <p:nvPr/>
        </p:nvSpPr>
        <p:spPr>
          <a:xfrm>
            <a:off x="10053320" y="4101409"/>
            <a:ext cx="1617980" cy="4365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11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225" y="1602105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5740" y="2972753"/>
            <a:ext cx="5178425" cy="19754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001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38310" y="138874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338310" y="1388745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564" y="1999569"/>
            <a:ext cx="4597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4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CIFAR10数据集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94870" y="2748756"/>
            <a:ext cx="4483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小型图像分类任务的基石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57565" y="3307556"/>
            <a:ext cx="4483100" cy="1544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由</a:t>
            </a:r>
            <a:r>
              <a:rPr lang="en-US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60000张 </a:t>
            </a: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32×32彩色图像构成，涵盖10个类别，是检验计算机视觉模型性能的基准数据集。</a:t>
            </a:r>
            <a:endParaRPr 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070" y="1009015"/>
            <a:ext cx="6540500" cy="52038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462542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项目核心任务与评价指标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693227" y="2614613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972627" y="28940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368470" y="3783013"/>
            <a:ext cx="1792742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核心任务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6278" y="4201659"/>
            <a:ext cx="3009900" cy="147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构建神经网络，对CIFAR10测试集进行</a:t>
            </a:r>
            <a:r>
              <a:rPr lang="en-US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十类图像分类 </a:t>
            </a: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，并统计分类准确率。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587841" y="2614613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838666" y="2894013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7557" y="214313"/>
                </a:moveTo>
                <a:lnTo>
                  <a:pt x="300395" y="214313"/>
                </a:lnTo>
                <a:cubicBezTo>
                  <a:pt x="284589" y="214313"/>
                  <a:pt x="271820" y="201543"/>
                  <a:pt x="271820" y="185738"/>
                </a:cubicBezTo>
                <a:lnTo>
                  <a:pt x="271820" y="28575"/>
                </a:lnTo>
                <a:cubicBezTo>
                  <a:pt x="271820" y="12769"/>
                  <a:pt x="284678" y="-179"/>
                  <a:pt x="300305" y="1875"/>
                </a:cubicBezTo>
                <a:cubicBezTo>
                  <a:pt x="395853" y="14555"/>
                  <a:pt x="471577" y="90279"/>
                  <a:pt x="484257" y="185827"/>
                </a:cubicBezTo>
                <a:cubicBezTo>
                  <a:pt x="486311" y="201454"/>
                  <a:pt x="473363" y="214313"/>
                  <a:pt x="457557" y="214313"/>
                </a:cubicBezTo>
                <a:close/>
                <a:moveTo>
                  <a:pt x="198775" y="33218"/>
                </a:moveTo>
                <a:cubicBezTo>
                  <a:pt x="214938" y="29825"/>
                  <a:pt x="228957" y="43041"/>
                  <a:pt x="228957" y="59561"/>
                </a:cubicBezTo>
                <a:lnTo>
                  <a:pt x="228957" y="235744"/>
                </a:lnTo>
                <a:cubicBezTo>
                  <a:pt x="228957" y="240744"/>
                  <a:pt x="230743" y="245566"/>
                  <a:pt x="233869" y="249406"/>
                </a:cubicBezTo>
                <a:lnTo>
                  <a:pt x="351830" y="391745"/>
                </a:lnTo>
                <a:cubicBezTo>
                  <a:pt x="362277" y="404336"/>
                  <a:pt x="360045" y="423356"/>
                  <a:pt x="345668" y="431125"/>
                </a:cubicBezTo>
                <a:cubicBezTo>
                  <a:pt x="315218" y="447735"/>
                  <a:pt x="280303" y="457200"/>
                  <a:pt x="243245" y="457200"/>
                </a:cubicBezTo>
                <a:cubicBezTo>
                  <a:pt x="124926" y="457200"/>
                  <a:pt x="28932" y="361206"/>
                  <a:pt x="28932" y="242888"/>
                </a:cubicBezTo>
                <a:cubicBezTo>
                  <a:pt x="28932" y="139750"/>
                  <a:pt x="101709" y="53667"/>
                  <a:pt x="198775" y="33218"/>
                </a:cubicBezTo>
                <a:close/>
                <a:moveTo>
                  <a:pt x="426660" y="257175"/>
                </a:moveTo>
                <a:lnTo>
                  <a:pt x="483810" y="257175"/>
                </a:lnTo>
                <a:cubicBezTo>
                  <a:pt x="500330" y="257175"/>
                  <a:pt x="513546" y="271195"/>
                  <a:pt x="510153" y="287357"/>
                </a:cubicBezTo>
                <a:cubicBezTo>
                  <a:pt x="501045" y="330577"/>
                  <a:pt x="478899" y="368975"/>
                  <a:pt x="448002" y="398264"/>
                </a:cubicBezTo>
                <a:cubicBezTo>
                  <a:pt x="437019" y="408712"/>
                  <a:pt x="419785" y="406479"/>
                  <a:pt x="410141" y="394781"/>
                </a:cubicBezTo>
                <a:lnTo>
                  <a:pt x="334774" y="303967"/>
                </a:lnTo>
                <a:cubicBezTo>
                  <a:pt x="319326" y="285304"/>
                  <a:pt x="332631" y="257175"/>
                  <a:pt x="356741" y="257175"/>
                </a:cubicBezTo>
                <a:lnTo>
                  <a:pt x="426571" y="257175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263084" y="3783013"/>
            <a:ext cx="1792742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评价指标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91049" y="4439970"/>
            <a:ext cx="3203121" cy="1118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采用</a:t>
            </a:r>
            <a:r>
              <a:rPr lang="en-US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整体准确率 </a:t>
            </a: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衡量综合性能，并分析类别级准确率，定位易混样本。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482455" y="2614613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9704705" y="2894013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157698" y="3783013"/>
            <a:ext cx="1792742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训练策略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549119" y="4439971"/>
            <a:ext cx="3009900" cy="111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结合</a:t>
            </a:r>
            <a:r>
              <a:rPr lang="en-US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学习率衰减 </a:t>
            </a: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与验证集监控，确保训练过程稳定且结果可复现。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65" y="1689191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6568" y="3172324"/>
            <a:ext cx="5178425" cy="19754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7200" dirty="0">
                <a:solidFill>
                  <a:srgbClr val="001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数据准备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8235950" y="1475831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35950" y="1475831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6629" y="963111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数据预处理流程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185744" y="1652716"/>
            <a:ext cx="3898900" cy="2184400"/>
          </a:xfrm>
          <a:custGeom>
            <a:avLst/>
            <a:gdLst/>
            <a:ahLst/>
            <a:cxnLst/>
            <a:rect l="l" t="t" r="r" b="b"/>
            <a:pathLst>
              <a:path w="3898900" h="21844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2082804"/>
                </a:lnTo>
                <a:cubicBezTo>
                  <a:pt x="3898900" y="2138914"/>
                  <a:pt x="3853414" y="2184400"/>
                  <a:pt x="37973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325444" y="1855916"/>
            <a:ext cx="361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训练集变换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502734" y="2351216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63423" y="130086"/>
                </a:moveTo>
                <a:lnTo>
                  <a:pt x="196761" y="96748"/>
                </a:lnTo>
                <a:cubicBezTo>
                  <a:pt x="201102" y="92407"/>
                  <a:pt x="201102" y="85358"/>
                  <a:pt x="196761" y="81017"/>
                </a:cubicBezTo>
                <a:lnTo>
                  <a:pt x="163423" y="47680"/>
                </a:lnTo>
                <a:cubicBezTo>
                  <a:pt x="159082" y="43339"/>
                  <a:pt x="152033" y="43339"/>
                  <a:pt x="147692" y="47680"/>
                </a:cubicBezTo>
                <a:cubicBezTo>
                  <a:pt x="143351" y="52020"/>
                  <a:pt x="143351" y="59070"/>
                  <a:pt x="147692" y="63411"/>
                </a:cubicBezTo>
                <a:lnTo>
                  <a:pt x="162069" y="77788"/>
                </a:lnTo>
                <a:lnTo>
                  <a:pt x="37921" y="77788"/>
                </a:lnTo>
                <a:lnTo>
                  <a:pt x="52298" y="63411"/>
                </a:lnTo>
                <a:cubicBezTo>
                  <a:pt x="56639" y="59070"/>
                  <a:pt x="56639" y="52020"/>
                  <a:pt x="52298" y="47680"/>
                </a:cubicBezTo>
                <a:cubicBezTo>
                  <a:pt x="47957" y="43339"/>
                  <a:pt x="40908" y="43339"/>
                  <a:pt x="36567" y="47680"/>
                </a:cubicBezTo>
                <a:lnTo>
                  <a:pt x="3230" y="81017"/>
                </a:lnTo>
                <a:cubicBezTo>
                  <a:pt x="1146" y="83101"/>
                  <a:pt x="-35" y="85914"/>
                  <a:pt x="-35" y="88865"/>
                </a:cubicBezTo>
                <a:cubicBezTo>
                  <a:pt x="-35" y="91817"/>
                  <a:pt x="1146" y="94630"/>
                  <a:pt x="3230" y="96713"/>
                </a:cubicBezTo>
                <a:lnTo>
                  <a:pt x="36567" y="130051"/>
                </a:lnTo>
                <a:cubicBezTo>
                  <a:pt x="40908" y="134392"/>
                  <a:pt x="47957" y="134392"/>
                  <a:pt x="52298" y="130051"/>
                </a:cubicBezTo>
                <a:cubicBezTo>
                  <a:pt x="56639" y="125710"/>
                  <a:pt x="56639" y="118661"/>
                  <a:pt x="52298" y="114320"/>
                </a:cubicBezTo>
                <a:lnTo>
                  <a:pt x="37921" y="99943"/>
                </a:lnTo>
                <a:lnTo>
                  <a:pt x="162069" y="99943"/>
                </a:lnTo>
                <a:lnTo>
                  <a:pt x="147692" y="114320"/>
                </a:lnTo>
                <a:cubicBezTo>
                  <a:pt x="143351" y="118661"/>
                  <a:pt x="143351" y="125710"/>
                  <a:pt x="147692" y="130051"/>
                </a:cubicBezTo>
                <a:cubicBezTo>
                  <a:pt x="152033" y="134392"/>
                  <a:pt x="159082" y="134392"/>
                  <a:pt x="163423" y="130051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666247" y="2313116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随机水平翻转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370019" y="2706816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5575" y="37956"/>
                </a:moveTo>
                <a:lnTo>
                  <a:pt x="174536" y="18995"/>
                </a:lnTo>
                <a:cubicBezTo>
                  <a:pt x="178877" y="14655"/>
                  <a:pt x="178877" y="7605"/>
                  <a:pt x="174536" y="3264"/>
                </a:cubicBezTo>
                <a:cubicBezTo>
                  <a:pt x="170195" y="-1077"/>
                  <a:pt x="163145" y="-1077"/>
                  <a:pt x="158805" y="3264"/>
                </a:cubicBezTo>
                <a:lnTo>
                  <a:pt x="139844" y="22225"/>
                </a:lnTo>
                <a:lnTo>
                  <a:pt x="61119" y="22225"/>
                </a:lnTo>
                <a:lnTo>
                  <a:pt x="61119" y="44450"/>
                </a:lnTo>
                <a:lnTo>
                  <a:pt x="117619" y="44450"/>
                </a:lnTo>
                <a:lnTo>
                  <a:pt x="44450" y="117619"/>
                </a:lnTo>
                <a:lnTo>
                  <a:pt x="44450" y="11112"/>
                </a:lnTo>
                <a:cubicBezTo>
                  <a:pt x="44450" y="4966"/>
                  <a:pt x="39484" y="0"/>
                  <a:pt x="33337" y="0"/>
                </a:cubicBezTo>
                <a:cubicBezTo>
                  <a:pt x="27191" y="0"/>
                  <a:pt x="22225" y="4966"/>
                  <a:pt x="22225" y="11112"/>
                </a:cubicBezTo>
                <a:lnTo>
                  <a:pt x="22225" y="22225"/>
                </a:lnTo>
                <a:lnTo>
                  <a:pt x="11112" y="22225"/>
                </a:lnTo>
                <a:cubicBezTo>
                  <a:pt x="4966" y="22225"/>
                  <a:pt x="0" y="27191"/>
                  <a:pt x="0" y="33337"/>
                </a:cubicBezTo>
                <a:cubicBezTo>
                  <a:pt x="0" y="39484"/>
                  <a:pt x="4966" y="44450"/>
                  <a:pt x="11112" y="44450"/>
                </a:cubicBezTo>
                <a:lnTo>
                  <a:pt x="22225" y="44450"/>
                </a:ln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116681" y="155575"/>
                </a:lnTo>
                <a:lnTo>
                  <a:pt x="116681" y="133350"/>
                </a:lnTo>
                <a:lnTo>
                  <a:pt x="60181" y="133350"/>
                </a:lnTo>
                <a:lnTo>
                  <a:pt x="133350" y="60181"/>
                </a:lnTo>
                <a:lnTo>
                  <a:pt x="133350" y="166688"/>
                </a:lnTo>
                <a:cubicBezTo>
                  <a:pt x="133350" y="172834"/>
                  <a:pt x="138316" y="177800"/>
                  <a:pt x="144463" y="177800"/>
                </a:cubicBezTo>
                <a:cubicBezTo>
                  <a:pt x="150609" y="177800"/>
                  <a:pt x="155575" y="172834"/>
                  <a:pt x="155575" y="166688"/>
                </a:cubicBezTo>
                <a:lnTo>
                  <a:pt x="155575" y="155575"/>
                </a:lnTo>
                <a:lnTo>
                  <a:pt x="166688" y="155575"/>
                </a:lnTo>
                <a:cubicBezTo>
                  <a:pt x="172834" y="155575"/>
                  <a:pt x="177800" y="150609"/>
                  <a:pt x="177800" y="144463"/>
                </a:cubicBezTo>
                <a:cubicBezTo>
                  <a:pt x="177800" y="138316"/>
                  <a:pt x="172834" y="133350"/>
                  <a:pt x="166688" y="133350"/>
                </a:cubicBezTo>
                <a:lnTo>
                  <a:pt x="155575" y="133350"/>
                </a:lnTo>
                <a:lnTo>
                  <a:pt x="155575" y="37956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522419" y="2668716"/>
            <a:ext cx="144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随机裁剪 (32x32)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64501" y="3062416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33350" y="166688"/>
                </a:lnTo>
                <a:cubicBezTo>
                  <a:pt x="145608" y="166688"/>
                  <a:pt x="155575" y="156721"/>
                  <a:pt x="155575" y="144463"/>
                </a:cubicBezTo>
                <a:lnTo>
                  <a:pt x="155575" y="33337"/>
                </a:lnTo>
                <a:cubicBezTo>
                  <a:pt x="155575" y="21079"/>
                  <a:pt x="145608" y="11112"/>
                  <a:pt x="133350" y="11112"/>
                </a:cubicBezTo>
                <a:lnTo>
                  <a:pt x="22225" y="11112"/>
                </a:lnTo>
                <a:close/>
                <a:moveTo>
                  <a:pt x="44450" y="38894"/>
                </a:moveTo>
                <a:cubicBezTo>
                  <a:pt x="53650" y="38894"/>
                  <a:pt x="61119" y="46363"/>
                  <a:pt x="61119" y="55563"/>
                </a:cubicBezTo>
                <a:cubicBezTo>
                  <a:pt x="61119" y="64762"/>
                  <a:pt x="53650" y="72231"/>
                  <a:pt x="44450" y="72231"/>
                </a:cubicBezTo>
                <a:cubicBezTo>
                  <a:pt x="35250" y="72231"/>
                  <a:pt x="27781" y="64762"/>
                  <a:pt x="27781" y="55563"/>
                </a:cubicBezTo>
                <a:cubicBezTo>
                  <a:pt x="27781" y="46363"/>
                  <a:pt x="35250" y="38894"/>
                  <a:pt x="44450" y="38894"/>
                </a:cubicBezTo>
                <a:close/>
                <a:moveTo>
                  <a:pt x="94456" y="77788"/>
                </a:moveTo>
                <a:cubicBezTo>
                  <a:pt x="97373" y="77788"/>
                  <a:pt x="100047" y="79315"/>
                  <a:pt x="101575" y="81781"/>
                </a:cubicBezTo>
                <a:lnTo>
                  <a:pt x="132135" y="131787"/>
                </a:lnTo>
                <a:cubicBezTo>
                  <a:pt x="133697" y="134357"/>
                  <a:pt x="133767" y="137587"/>
                  <a:pt x="132308" y="140226"/>
                </a:cubicBezTo>
                <a:cubicBezTo>
                  <a:pt x="130850" y="142865"/>
                  <a:pt x="128037" y="144463"/>
                  <a:pt x="125016" y="144463"/>
                </a:cubicBezTo>
                <a:lnTo>
                  <a:pt x="30559" y="144463"/>
                </a:lnTo>
                <a:cubicBezTo>
                  <a:pt x="27469" y="144463"/>
                  <a:pt x="24586" y="142726"/>
                  <a:pt x="23163" y="139983"/>
                </a:cubicBezTo>
                <a:cubicBezTo>
                  <a:pt x="21739" y="137239"/>
                  <a:pt x="21947" y="133906"/>
                  <a:pt x="23718" y="131371"/>
                </a:cubicBezTo>
                <a:lnTo>
                  <a:pt x="43165" y="103589"/>
                </a:lnTo>
                <a:cubicBezTo>
                  <a:pt x="44728" y="101367"/>
                  <a:pt x="47263" y="100047"/>
                  <a:pt x="50006" y="100047"/>
                </a:cubicBezTo>
                <a:cubicBezTo>
                  <a:pt x="52750" y="100047"/>
                  <a:pt x="55285" y="101367"/>
                  <a:pt x="56847" y="103589"/>
                </a:cubicBezTo>
                <a:lnTo>
                  <a:pt x="66015" y="116716"/>
                </a:lnTo>
                <a:lnTo>
                  <a:pt x="87337" y="81816"/>
                </a:lnTo>
                <a:cubicBezTo>
                  <a:pt x="88865" y="79350"/>
                  <a:pt x="91539" y="77822"/>
                  <a:pt x="94456" y="77822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805788" y="3024316"/>
            <a:ext cx="876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ToTensor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24483" y="3418016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112" y="22225"/>
                </a:moveTo>
                <a:cubicBezTo>
                  <a:pt x="4966" y="22225"/>
                  <a:pt x="0" y="27191"/>
                  <a:pt x="0" y="33337"/>
                </a:cubicBezTo>
                <a:cubicBezTo>
                  <a:pt x="0" y="39484"/>
                  <a:pt x="4966" y="44450"/>
                  <a:pt x="11112" y="44450"/>
                </a:cubicBezTo>
                <a:lnTo>
                  <a:pt x="41220" y="44450"/>
                </a:lnTo>
                <a:cubicBezTo>
                  <a:pt x="45492" y="54278"/>
                  <a:pt x="55285" y="61119"/>
                  <a:pt x="66675" y="61119"/>
                </a:cubicBezTo>
                <a:cubicBezTo>
                  <a:pt x="78065" y="61119"/>
                  <a:pt x="87858" y="54278"/>
                  <a:pt x="92130" y="44450"/>
                </a:cubicBezTo>
                <a:lnTo>
                  <a:pt x="166688" y="44450"/>
                </a:lnTo>
                <a:cubicBezTo>
                  <a:pt x="172834" y="44450"/>
                  <a:pt x="177800" y="39484"/>
                  <a:pt x="177800" y="33337"/>
                </a:cubicBezTo>
                <a:cubicBezTo>
                  <a:pt x="177800" y="27191"/>
                  <a:pt x="172834" y="22225"/>
                  <a:pt x="166688" y="22225"/>
                </a:cubicBezTo>
                <a:lnTo>
                  <a:pt x="92130" y="22225"/>
                </a:lnTo>
                <a:cubicBezTo>
                  <a:pt x="87858" y="12397"/>
                  <a:pt x="78065" y="5556"/>
                  <a:pt x="66675" y="5556"/>
                </a:cubicBezTo>
                <a:cubicBezTo>
                  <a:pt x="55285" y="5556"/>
                  <a:pt x="45492" y="12397"/>
                  <a:pt x="41220" y="22225"/>
                </a:cubicBezTo>
                <a:lnTo>
                  <a:pt x="11112" y="22225"/>
                </a:lnTo>
                <a:close/>
                <a:moveTo>
                  <a:pt x="11112" y="77788"/>
                </a:move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96783" y="100013"/>
                </a:lnTo>
                <a:cubicBezTo>
                  <a:pt x="101054" y="109840"/>
                  <a:pt x="110847" y="116681"/>
                  <a:pt x="122238" y="116681"/>
                </a:cubicBezTo>
                <a:cubicBezTo>
                  <a:pt x="133628" y="116681"/>
                  <a:pt x="143421" y="109840"/>
                  <a:pt x="147692" y="100013"/>
                </a:cubicBezTo>
                <a:lnTo>
                  <a:pt x="166688" y="100013"/>
                </a:lnTo>
                <a:cubicBezTo>
                  <a:pt x="172834" y="100013"/>
                  <a:pt x="177800" y="95047"/>
                  <a:pt x="177800" y="88900"/>
                </a:cubicBezTo>
                <a:cubicBezTo>
                  <a:pt x="177800" y="82753"/>
                  <a:pt x="172834" y="77788"/>
                  <a:pt x="166688" y="77788"/>
                </a:cubicBezTo>
                <a:lnTo>
                  <a:pt x="147692" y="77788"/>
                </a:lnTo>
                <a:cubicBezTo>
                  <a:pt x="143421" y="67960"/>
                  <a:pt x="133628" y="61119"/>
                  <a:pt x="122238" y="61119"/>
                </a:cubicBezTo>
                <a:cubicBezTo>
                  <a:pt x="110847" y="61119"/>
                  <a:pt x="101054" y="67960"/>
                  <a:pt x="96783" y="77788"/>
                </a:cubicBezTo>
                <a:lnTo>
                  <a:pt x="11112" y="77788"/>
                </a:lnTo>
                <a:close/>
                <a:moveTo>
                  <a:pt x="11112" y="133350"/>
                </a:moveTo>
                <a:cubicBezTo>
                  <a:pt x="4966" y="133350"/>
                  <a:pt x="0" y="138316"/>
                  <a:pt x="0" y="144463"/>
                </a:cubicBezTo>
                <a:cubicBezTo>
                  <a:pt x="0" y="150609"/>
                  <a:pt x="4966" y="155575"/>
                  <a:pt x="11112" y="155575"/>
                </a:cubicBezTo>
                <a:lnTo>
                  <a:pt x="30108" y="155575"/>
                </a:lnTo>
                <a:cubicBezTo>
                  <a:pt x="34379" y="165403"/>
                  <a:pt x="44172" y="172244"/>
                  <a:pt x="55563" y="172244"/>
                </a:cubicBezTo>
                <a:cubicBezTo>
                  <a:pt x="66953" y="172244"/>
                  <a:pt x="76746" y="165403"/>
                  <a:pt x="81017" y="155575"/>
                </a:cubicBezTo>
                <a:lnTo>
                  <a:pt x="166688" y="155575"/>
                </a:lnTo>
                <a:cubicBezTo>
                  <a:pt x="172834" y="155575"/>
                  <a:pt x="177800" y="150609"/>
                  <a:pt x="177800" y="144463"/>
                </a:cubicBezTo>
                <a:cubicBezTo>
                  <a:pt x="177800" y="138316"/>
                  <a:pt x="172834" y="133350"/>
                  <a:pt x="166688" y="133350"/>
                </a:cubicBezTo>
                <a:lnTo>
                  <a:pt x="81017" y="133350"/>
                </a:lnTo>
                <a:cubicBezTo>
                  <a:pt x="76746" y="123522"/>
                  <a:pt x="66953" y="116681"/>
                  <a:pt x="55563" y="116681"/>
                </a:cubicBezTo>
                <a:cubicBezTo>
                  <a:pt x="44172" y="116681"/>
                  <a:pt x="34379" y="123522"/>
                  <a:pt x="30108" y="133350"/>
                </a:cubicBezTo>
                <a:lnTo>
                  <a:pt x="11112" y="133350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676883" y="3379916"/>
            <a:ext cx="1130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标准化 (RGB)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5400000">
            <a:off x="8894087" y="393907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0C2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7185744" y="4433105"/>
            <a:ext cx="3898900" cy="1828800"/>
          </a:xfrm>
          <a:custGeom>
            <a:avLst/>
            <a:gdLst/>
            <a:ahLst/>
            <a:cxnLst/>
            <a:rect l="l" t="t" r="r" b="b"/>
            <a:pathLst>
              <a:path w="3898900" h="1828800">
                <a:moveTo>
                  <a:pt x="101608" y="0"/>
                </a:moveTo>
                <a:lnTo>
                  <a:pt x="3797292" y="0"/>
                </a:lnTo>
                <a:cubicBezTo>
                  <a:pt x="3853408" y="0"/>
                  <a:pt x="3898900" y="45492"/>
                  <a:pt x="3898900" y="101608"/>
                </a:cubicBezTo>
                <a:lnTo>
                  <a:pt x="3898900" y="1727192"/>
                </a:lnTo>
                <a:cubicBezTo>
                  <a:pt x="3898900" y="1783308"/>
                  <a:pt x="3853408" y="1828800"/>
                  <a:pt x="37972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238415" y="4523283"/>
            <a:ext cx="1528128" cy="577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测试集变换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70019" y="513160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5575" y="37956"/>
                </a:moveTo>
                <a:lnTo>
                  <a:pt x="174536" y="18995"/>
                </a:lnTo>
                <a:cubicBezTo>
                  <a:pt x="178877" y="14655"/>
                  <a:pt x="178877" y="7605"/>
                  <a:pt x="174536" y="3264"/>
                </a:cubicBezTo>
                <a:cubicBezTo>
                  <a:pt x="170195" y="-1077"/>
                  <a:pt x="163145" y="-1077"/>
                  <a:pt x="158805" y="3264"/>
                </a:cubicBezTo>
                <a:lnTo>
                  <a:pt x="139844" y="22225"/>
                </a:lnTo>
                <a:lnTo>
                  <a:pt x="61119" y="22225"/>
                </a:lnTo>
                <a:lnTo>
                  <a:pt x="61119" y="44450"/>
                </a:lnTo>
                <a:lnTo>
                  <a:pt x="117619" y="44450"/>
                </a:lnTo>
                <a:lnTo>
                  <a:pt x="44450" y="117619"/>
                </a:lnTo>
                <a:lnTo>
                  <a:pt x="44450" y="11112"/>
                </a:lnTo>
                <a:cubicBezTo>
                  <a:pt x="44450" y="4966"/>
                  <a:pt x="39484" y="0"/>
                  <a:pt x="33337" y="0"/>
                </a:cubicBezTo>
                <a:cubicBezTo>
                  <a:pt x="27191" y="0"/>
                  <a:pt x="22225" y="4966"/>
                  <a:pt x="22225" y="11112"/>
                </a:cubicBezTo>
                <a:lnTo>
                  <a:pt x="22225" y="22225"/>
                </a:lnTo>
                <a:lnTo>
                  <a:pt x="11112" y="22225"/>
                </a:lnTo>
                <a:cubicBezTo>
                  <a:pt x="4966" y="22225"/>
                  <a:pt x="0" y="27191"/>
                  <a:pt x="0" y="33337"/>
                </a:cubicBezTo>
                <a:cubicBezTo>
                  <a:pt x="0" y="39484"/>
                  <a:pt x="4966" y="44450"/>
                  <a:pt x="11112" y="44450"/>
                </a:cubicBezTo>
                <a:lnTo>
                  <a:pt x="22225" y="44450"/>
                </a:ln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116681" y="155575"/>
                </a:lnTo>
                <a:lnTo>
                  <a:pt x="116681" y="133350"/>
                </a:lnTo>
                <a:lnTo>
                  <a:pt x="60181" y="133350"/>
                </a:lnTo>
                <a:lnTo>
                  <a:pt x="133350" y="60181"/>
                </a:lnTo>
                <a:lnTo>
                  <a:pt x="133350" y="166688"/>
                </a:lnTo>
                <a:cubicBezTo>
                  <a:pt x="133350" y="172834"/>
                  <a:pt x="138316" y="177800"/>
                  <a:pt x="144463" y="177800"/>
                </a:cubicBezTo>
                <a:cubicBezTo>
                  <a:pt x="150609" y="177800"/>
                  <a:pt x="155575" y="172834"/>
                  <a:pt x="155575" y="166688"/>
                </a:cubicBezTo>
                <a:lnTo>
                  <a:pt x="155575" y="155575"/>
                </a:lnTo>
                <a:lnTo>
                  <a:pt x="166688" y="155575"/>
                </a:lnTo>
                <a:cubicBezTo>
                  <a:pt x="172834" y="155575"/>
                  <a:pt x="177800" y="150609"/>
                  <a:pt x="177800" y="144463"/>
                </a:cubicBezTo>
                <a:cubicBezTo>
                  <a:pt x="177800" y="138316"/>
                  <a:pt x="172834" y="133350"/>
                  <a:pt x="166688" y="133350"/>
                </a:cubicBezTo>
                <a:lnTo>
                  <a:pt x="155575" y="133350"/>
                </a:lnTo>
                <a:lnTo>
                  <a:pt x="155575" y="37956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522419" y="5093505"/>
            <a:ext cx="1447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中心裁剪 (32x32)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64500" y="548720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33350" y="166688"/>
                </a:lnTo>
                <a:cubicBezTo>
                  <a:pt x="145608" y="166688"/>
                  <a:pt x="155575" y="156721"/>
                  <a:pt x="155575" y="144463"/>
                </a:cubicBezTo>
                <a:lnTo>
                  <a:pt x="155575" y="33337"/>
                </a:lnTo>
                <a:cubicBezTo>
                  <a:pt x="155575" y="21079"/>
                  <a:pt x="145608" y="11112"/>
                  <a:pt x="133350" y="11112"/>
                </a:cubicBezTo>
                <a:lnTo>
                  <a:pt x="22225" y="11112"/>
                </a:lnTo>
                <a:close/>
                <a:moveTo>
                  <a:pt x="44450" y="38894"/>
                </a:moveTo>
                <a:cubicBezTo>
                  <a:pt x="53650" y="38894"/>
                  <a:pt x="61119" y="46363"/>
                  <a:pt x="61119" y="55563"/>
                </a:cubicBezTo>
                <a:cubicBezTo>
                  <a:pt x="61119" y="64762"/>
                  <a:pt x="53650" y="72231"/>
                  <a:pt x="44450" y="72231"/>
                </a:cubicBezTo>
                <a:cubicBezTo>
                  <a:pt x="35250" y="72231"/>
                  <a:pt x="27781" y="64762"/>
                  <a:pt x="27781" y="55563"/>
                </a:cubicBezTo>
                <a:cubicBezTo>
                  <a:pt x="27781" y="46363"/>
                  <a:pt x="35250" y="38894"/>
                  <a:pt x="44450" y="38894"/>
                </a:cubicBezTo>
                <a:close/>
                <a:moveTo>
                  <a:pt x="94456" y="77788"/>
                </a:moveTo>
                <a:cubicBezTo>
                  <a:pt x="97373" y="77788"/>
                  <a:pt x="100047" y="79315"/>
                  <a:pt x="101575" y="81781"/>
                </a:cubicBezTo>
                <a:lnTo>
                  <a:pt x="132135" y="131787"/>
                </a:lnTo>
                <a:cubicBezTo>
                  <a:pt x="133697" y="134357"/>
                  <a:pt x="133767" y="137587"/>
                  <a:pt x="132308" y="140226"/>
                </a:cubicBezTo>
                <a:cubicBezTo>
                  <a:pt x="130850" y="142865"/>
                  <a:pt x="128037" y="144463"/>
                  <a:pt x="125016" y="144463"/>
                </a:cubicBezTo>
                <a:lnTo>
                  <a:pt x="30559" y="144463"/>
                </a:lnTo>
                <a:cubicBezTo>
                  <a:pt x="27469" y="144463"/>
                  <a:pt x="24586" y="142726"/>
                  <a:pt x="23163" y="139983"/>
                </a:cubicBezTo>
                <a:cubicBezTo>
                  <a:pt x="21739" y="137239"/>
                  <a:pt x="21947" y="133906"/>
                  <a:pt x="23718" y="131371"/>
                </a:cubicBezTo>
                <a:lnTo>
                  <a:pt x="43165" y="103589"/>
                </a:lnTo>
                <a:cubicBezTo>
                  <a:pt x="44728" y="101367"/>
                  <a:pt x="47263" y="100047"/>
                  <a:pt x="50006" y="100047"/>
                </a:cubicBezTo>
                <a:cubicBezTo>
                  <a:pt x="52750" y="100047"/>
                  <a:pt x="55285" y="101367"/>
                  <a:pt x="56847" y="103589"/>
                </a:cubicBezTo>
                <a:lnTo>
                  <a:pt x="66015" y="116716"/>
                </a:lnTo>
                <a:lnTo>
                  <a:pt x="87337" y="81816"/>
                </a:lnTo>
                <a:cubicBezTo>
                  <a:pt x="88865" y="79350"/>
                  <a:pt x="91539" y="77822"/>
                  <a:pt x="94456" y="77822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805788" y="5449105"/>
            <a:ext cx="876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ToTensor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524483" y="584280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112" y="22225"/>
                </a:moveTo>
                <a:cubicBezTo>
                  <a:pt x="4966" y="22225"/>
                  <a:pt x="0" y="27191"/>
                  <a:pt x="0" y="33337"/>
                </a:cubicBezTo>
                <a:cubicBezTo>
                  <a:pt x="0" y="39484"/>
                  <a:pt x="4966" y="44450"/>
                  <a:pt x="11112" y="44450"/>
                </a:cubicBezTo>
                <a:lnTo>
                  <a:pt x="41220" y="44450"/>
                </a:lnTo>
                <a:cubicBezTo>
                  <a:pt x="45492" y="54278"/>
                  <a:pt x="55285" y="61119"/>
                  <a:pt x="66675" y="61119"/>
                </a:cubicBezTo>
                <a:cubicBezTo>
                  <a:pt x="78065" y="61119"/>
                  <a:pt x="87858" y="54278"/>
                  <a:pt x="92130" y="44450"/>
                </a:cubicBezTo>
                <a:lnTo>
                  <a:pt x="166688" y="44450"/>
                </a:lnTo>
                <a:cubicBezTo>
                  <a:pt x="172834" y="44450"/>
                  <a:pt x="177800" y="39484"/>
                  <a:pt x="177800" y="33337"/>
                </a:cubicBezTo>
                <a:cubicBezTo>
                  <a:pt x="177800" y="27191"/>
                  <a:pt x="172834" y="22225"/>
                  <a:pt x="166688" y="22225"/>
                </a:cubicBezTo>
                <a:lnTo>
                  <a:pt x="92130" y="22225"/>
                </a:lnTo>
                <a:cubicBezTo>
                  <a:pt x="87858" y="12397"/>
                  <a:pt x="78065" y="5556"/>
                  <a:pt x="66675" y="5556"/>
                </a:cubicBezTo>
                <a:cubicBezTo>
                  <a:pt x="55285" y="5556"/>
                  <a:pt x="45492" y="12397"/>
                  <a:pt x="41220" y="22225"/>
                </a:cubicBezTo>
                <a:lnTo>
                  <a:pt x="11112" y="22225"/>
                </a:lnTo>
                <a:close/>
                <a:moveTo>
                  <a:pt x="11112" y="77788"/>
                </a:move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96783" y="100013"/>
                </a:lnTo>
                <a:cubicBezTo>
                  <a:pt x="101054" y="109840"/>
                  <a:pt x="110847" y="116681"/>
                  <a:pt x="122238" y="116681"/>
                </a:cubicBezTo>
                <a:cubicBezTo>
                  <a:pt x="133628" y="116681"/>
                  <a:pt x="143421" y="109840"/>
                  <a:pt x="147692" y="100013"/>
                </a:cubicBezTo>
                <a:lnTo>
                  <a:pt x="166688" y="100013"/>
                </a:lnTo>
                <a:cubicBezTo>
                  <a:pt x="172834" y="100013"/>
                  <a:pt x="177800" y="95047"/>
                  <a:pt x="177800" y="88900"/>
                </a:cubicBezTo>
                <a:cubicBezTo>
                  <a:pt x="177800" y="82753"/>
                  <a:pt x="172834" y="77788"/>
                  <a:pt x="166688" y="77788"/>
                </a:cubicBezTo>
                <a:lnTo>
                  <a:pt x="147692" y="77788"/>
                </a:lnTo>
                <a:cubicBezTo>
                  <a:pt x="143421" y="67960"/>
                  <a:pt x="133628" y="61119"/>
                  <a:pt x="122238" y="61119"/>
                </a:cubicBezTo>
                <a:cubicBezTo>
                  <a:pt x="110847" y="61119"/>
                  <a:pt x="101054" y="67960"/>
                  <a:pt x="96783" y="77788"/>
                </a:cubicBezTo>
                <a:lnTo>
                  <a:pt x="11112" y="77788"/>
                </a:lnTo>
                <a:close/>
                <a:moveTo>
                  <a:pt x="11112" y="133350"/>
                </a:moveTo>
                <a:cubicBezTo>
                  <a:pt x="4966" y="133350"/>
                  <a:pt x="0" y="138316"/>
                  <a:pt x="0" y="144463"/>
                </a:cubicBezTo>
                <a:cubicBezTo>
                  <a:pt x="0" y="150609"/>
                  <a:pt x="4966" y="155575"/>
                  <a:pt x="11112" y="155575"/>
                </a:cubicBezTo>
                <a:lnTo>
                  <a:pt x="30108" y="155575"/>
                </a:lnTo>
                <a:cubicBezTo>
                  <a:pt x="34379" y="165403"/>
                  <a:pt x="44172" y="172244"/>
                  <a:pt x="55563" y="172244"/>
                </a:cubicBezTo>
                <a:cubicBezTo>
                  <a:pt x="66953" y="172244"/>
                  <a:pt x="76746" y="165403"/>
                  <a:pt x="81017" y="155575"/>
                </a:cubicBezTo>
                <a:lnTo>
                  <a:pt x="166688" y="155575"/>
                </a:lnTo>
                <a:cubicBezTo>
                  <a:pt x="172834" y="155575"/>
                  <a:pt x="177800" y="150609"/>
                  <a:pt x="177800" y="144463"/>
                </a:cubicBezTo>
                <a:cubicBezTo>
                  <a:pt x="177800" y="138316"/>
                  <a:pt x="172834" y="133350"/>
                  <a:pt x="166688" y="133350"/>
                </a:cubicBezTo>
                <a:lnTo>
                  <a:pt x="81017" y="133350"/>
                </a:lnTo>
                <a:cubicBezTo>
                  <a:pt x="76746" y="123522"/>
                  <a:pt x="66953" y="116681"/>
                  <a:pt x="55563" y="116681"/>
                </a:cubicBezTo>
                <a:cubicBezTo>
                  <a:pt x="44172" y="116681"/>
                  <a:pt x="34379" y="123522"/>
                  <a:pt x="30108" y="133350"/>
                </a:cubicBezTo>
                <a:lnTo>
                  <a:pt x="11112" y="133350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676883" y="5804705"/>
            <a:ext cx="1130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标准化 (RGB)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58055" y="861352"/>
            <a:ext cx="2865858" cy="12780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5" name="文本框 24"/>
          <p:cNvSpPr txBox="1"/>
          <p:nvPr/>
        </p:nvSpPr>
        <p:spPr>
          <a:xfrm>
            <a:off x="981794" y="2004838"/>
            <a:ext cx="532447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transform_train </a:t>
            </a:r>
            <a:r>
              <a:rPr lang="en-US" altLang="zh-CN" sz="2000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Compose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([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RandomHorizontalFlip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(),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RandomCrop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32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padding</a:t>
            </a:r>
            <a:r>
              <a:rPr lang="en-US" altLang="zh-CN" sz="2000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4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),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ToTensor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(),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Normalize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((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0.4914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0.4822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0.4465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0.2023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0.1994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0.2010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)),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])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transform_test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Compose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([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ToTensor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(),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transforms</a:t>
            </a:r>
            <a:r>
              <a:rPr lang="en-US" altLang="zh-CN" sz="2000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sz="2000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Normalize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((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0.4914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0.4822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0.4465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0.2023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0.1994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sz="2000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sz="2000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0.2010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)),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sz="2000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])</a:t>
            </a:r>
            <a:endParaRPr lang="en-US" altLang="zh-CN" sz="2000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>
              <a:buNone/>
            </a:pP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26" name="Shape 9"/>
          <p:cNvSpPr/>
          <p:nvPr/>
        </p:nvSpPr>
        <p:spPr>
          <a:xfrm>
            <a:off x="672549" y="1652717"/>
            <a:ext cx="5769218" cy="4609188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102" y="2247900"/>
            <a:ext cx="5727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训练样本可视化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73102" y="2908300"/>
            <a:ext cx="56388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从训练批次中随机抽取样本，直观展示</a:t>
            </a:r>
            <a:r>
              <a:rPr lang="en-US" sz="16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类别均衡性 </a:t>
            </a: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与图像多样性。通过观察可以发现，猫、狗等类别因形态多变，对模型特征提取能力构成挑战。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73102" y="4102100"/>
            <a:ext cx="5537200" cy="914400"/>
          </a:xfrm>
          <a:custGeom>
            <a:avLst/>
            <a:gdLst/>
            <a:ahLst/>
            <a:cxnLst/>
            <a:rect l="l" t="t" r="r" b="b"/>
            <a:pathLst>
              <a:path w="5537200" h="914400">
                <a:moveTo>
                  <a:pt x="101599" y="0"/>
                </a:moveTo>
                <a:lnTo>
                  <a:pt x="5435601" y="0"/>
                </a:lnTo>
                <a:cubicBezTo>
                  <a:pt x="5491713" y="0"/>
                  <a:pt x="5537200" y="45487"/>
                  <a:pt x="5537200" y="101599"/>
                </a:cubicBezTo>
                <a:lnTo>
                  <a:pt x="5537200" y="812801"/>
                </a:lnTo>
                <a:cubicBezTo>
                  <a:pt x="5537200" y="868913"/>
                  <a:pt x="5491713" y="914400"/>
                  <a:pt x="5435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25502" y="42545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观察结论: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5502" y="4610100"/>
            <a:ext cx="5321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猫狗、鹿马等形态相近的类别，是后续模型改进的重点关注对象。</a:t>
            </a:r>
            <a:endParaRPr lang="en-US" sz="16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553202" y="1913741"/>
            <a:ext cx="61163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def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imshow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img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ax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None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"""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显示图像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"""</a:t>
            </a:r>
            <a:endParaRPr lang="zh-CN" altLang="en-US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img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img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/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+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0.5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</a:t>
            </a:r>
            <a:r>
              <a:rPr lang="en-US" altLang="zh-CN" b="0" i="1" dirty="0">
                <a:solidFill>
                  <a:srgbClr val="408080"/>
                </a:solidFill>
                <a:effectLst/>
                <a:latin typeface="Abadi" panose="020F0502020204030204" pitchFamily="34" charset="0"/>
              </a:rPr>
              <a:t># </a:t>
            </a:r>
            <a:r>
              <a:rPr lang="zh-CN" altLang="en-US" b="0" i="1" dirty="0">
                <a:solidFill>
                  <a:srgbClr val="408080"/>
                </a:solidFill>
                <a:effectLst/>
                <a:latin typeface="Abadi" panose="020F0502020204030204" pitchFamily="34" charset="0"/>
              </a:rPr>
              <a:t>反归一化</a:t>
            </a:r>
            <a:endParaRPr lang="zh-CN" altLang="en-US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npimg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img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numpy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1" dirty="0">
                <a:solidFill>
                  <a:srgbClr val="408080"/>
                </a:solidFill>
                <a:effectLst/>
                <a:latin typeface="Abadi" panose="020F0502020204030204" pitchFamily="34" charset="0"/>
              </a:rPr>
              <a:t># </a:t>
            </a:r>
            <a:r>
              <a:rPr lang="zh-CN" altLang="en-US" b="0" i="1" dirty="0">
                <a:solidFill>
                  <a:srgbClr val="408080"/>
                </a:solidFill>
                <a:effectLst/>
                <a:latin typeface="Abadi" panose="020F0502020204030204" pitchFamily="34" charset="0"/>
              </a:rPr>
              <a:t>确保数据在有效范围内</a:t>
            </a:r>
            <a:endParaRPr lang="zh-CN" altLang="en-US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npimg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clip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npimg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if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ax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is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None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plt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imshow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transpose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npimg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plt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axis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'off'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else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ax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imshow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transpose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npimg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ax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axis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'off'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6400802" y="1524000"/>
            <a:ext cx="5154536" cy="4837697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98" y="1028492"/>
            <a:ext cx="10417443" cy="48010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937760" y="598424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数据可视化</a:t>
            </a:r>
            <a:endParaRPr lang="zh-CN" altLang="en-US" sz="2400" b="1" dirty="0">
              <a:solidFill>
                <a:srgbClr val="007B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742" y="1920240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64362" y="3317875"/>
            <a:ext cx="3095705" cy="129540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001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525827" y="1706880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525827" y="1706880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778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SimpleCNN 模型结构解析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2540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01596" y="0"/>
                </a:moveTo>
                <a:lnTo>
                  <a:pt x="1117604" y="0"/>
                </a:lnTo>
                <a:cubicBezTo>
                  <a:pt x="1173714" y="0"/>
                  <a:pt x="1219200" y="45486"/>
                  <a:pt x="1219200" y="101596"/>
                </a:cubicBezTo>
                <a:lnTo>
                  <a:pt x="1219200" y="1117604"/>
                </a:lnTo>
                <a:cubicBezTo>
                  <a:pt x="1219200" y="1173714"/>
                  <a:pt x="1173714" y="1219200"/>
                  <a:pt x="1117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66775" y="292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114300" y="100013"/>
                </a:moveTo>
                <a:cubicBezTo>
                  <a:pt x="137956" y="100013"/>
                  <a:pt x="157163" y="119219"/>
                  <a:pt x="157163" y="142875"/>
                </a:cubicBezTo>
                <a:cubicBezTo>
                  <a:pt x="157163" y="166531"/>
                  <a:pt x="137956" y="185738"/>
                  <a:pt x="114300" y="185738"/>
                </a:cubicBezTo>
                <a:cubicBezTo>
                  <a:pt x="90644" y="185738"/>
                  <a:pt x="71438" y="166531"/>
                  <a:pt x="71438" y="142875"/>
                </a:cubicBezTo>
                <a:cubicBezTo>
                  <a:pt x="71438" y="119219"/>
                  <a:pt x="90644" y="100013"/>
                  <a:pt x="114300" y="100013"/>
                </a:cubicBezTo>
                <a:close/>
                <a:moveTo>
                  <a:pt x="242888" y="200025"/>
                </a:moveTo>
                <a:cubicBezTo>
                  <a:pt x="250388" y="200025"/>
                  <a:pt x="257264" y="203954"/>
                  <a:pt x="261193" y="210294"/>
                </a:cubicBezTo>
                <a:lnTo>
                  <a:pt x="339775" y="338882"/>
                </a:lnTo>
                <a:cubicBezTo>
                  <a:pt x="343793" y="345490"/>
                  <a:pt x="343972" y="353794"/>
                  <a:pt x="340221" y="360581"/>
                </a:cubicBezTo>
                <a:cubicBezTo>
                  <a:pt x="336471" y="367367"/>
                  <a:pt x="329238" y="371475"/>
                  <a:pt x="321469" y="371475"/>
                </a:cubicBezTo>
                <a:lnTo>
                  <a:pt x="78581" y="371475"/>
                </a:lnTo>
                <a:cubicBezTo>
                  <a:pt x="70634" y="371475"/>
                  <a:pt x="63222" y="367010"/>
                  <a:pt x="59561" y="359956"/>
                </a:cubicBezTo>
                <a:cubicBezTo>
                  <a:pt x="55900" y="352901"/>
                  <a:pt x="56436" y="344329"/>
                  <a:pt x="60990" y="337810"/>
                </a:cubicBezTo>
                <a:lnTo>
                  <a:pt x="110996" y="266373"/>
                </a:lnTo>
                <a:cubicBezTo>
                  <a:pt x="115014" y="260658"/>
                  <a:pt x="121533" y="257264"/>
                  <a:pt x="128588" y="257264"/>
                </a:cubicBezTo>
                <a:cubicBezTo>
                  <a:pt x="135642" y="257264"/>
                  <a:pt x="142161" y="260658"/>
                  <a:pt x="146179" y="266373"/>
                </a:cubicBezTo>
                <a:lnTo>
                  <a:pt x="169753" y="300127"/>
                </a:lnTo>
                <a:lnTo>
                  <a:pt x="224582" y="210383"/>
                </a:lnTo>
                <a:cubicBezTo>
                  <a:pt x="228511" y="204043"/>
                  <a:pt x="235387" y="200114"/>
                  <a:pt x="242888" y="200114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06400" y="38608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输入图像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2750" y="4165600"/>
            <a:ext cx="130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32x32x3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134711" y="3289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0C2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2967673" y="2540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01596" y="0"/>
                </a:moveTo>
                <a:lnTo>
                  <a:pt x="1117604" y="0"/>
                </a:lnTo>
                <a:cubicBezTo>
                  <a:pt x="1173714" y="0"/>
                  <a:pt x="1219200" y="45486"/>
                  <a:pt x="1219200" y="101596"/>
                </a:cubicBezTo>
                <a:lnTo>
                  <a:pt x="1219200" y="1117604"/>
                </a:lnTo>
                <a:cubicBezTo>
                  <a:pt x="1219200" y="1173714"/>
                  <a:pt x="1173714" y="1219200"/>
                  <a:pt x="1117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348673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916873" y="38608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卷积层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3223" y="4165600"/>
            <a:ext cx="130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3层, 通道递增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45184" y="3289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0C2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478145" y="2540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01596" y="0"/>
                </a:moveTo>
                <a:lnTo>
                  <a:pt x="1117604" y="0"/>
                </a:lnTo>
                <a:cubicBezTo>
                  <a:pt x="1173714" y="0"/>
                  <a:pt x="1219200" y="45486"/>
                  <a:pt x="1219200" y="101596"/>
                </a:cubicBezTo>
                <a:lnTo>
                  <a:pt x="1219200" y="1117604"/>
                </a:lnTo>
                <a:cubicBezTo>
                  <a:pt x="1219200" y="1173714"/>
                  <a:pt x="1173714" y="1219200"/>
                  <a:pt x="1117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59145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371475" y="57150"/>
                </a:lnTo>
                <a:cubicBezTo>
                  <a:pt x="387281" y="57150"/>
                  <a:pt x="400050" y="69919"/>
                  <a:pt x="400050" y="85725"/>
                </a:cubicBezTo>
                <a:cubicBezTo>
                  <a:pt x="400050" y="101531"/>
                  <a:pt x="387281" y="114300"/>
                  <a:pt x="371475" y="114300"/>
                </a:cubicBezTo>
                <a:lnTo>
                  <a:pt x="28575" y="114300"/>
                </a:lnTo>
                <a:cubicBezTo>
                  <a:pt x="12769" y="114300"/>
                  <a:pt x="0" y="101531"/>
                  <a:pt x="0" y="85725"/>
                </a:cubicBezTo>
                <a:close/>
                <a:moveTo>
                  <a:pt x="57150" y="228600"/>
                </a:moveTo>
                <a:cubicBezTo>
                  <a:pt x="57150" y="212794"/>
                  <a:pt x="69919" y="200025"/>
                  <a:pt x="85725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85725" y="257175"/>
                </a:lnTo>
                <a:cubicBezTo>
                  <a:pt x="69919" y="257175"/>
                  <a:pt x="57150" y="244406"/>
                  <a:pt x="57150" y="228600"/>
                </a:cubicBezTo>
                <a:close/>
                <a:moveTo>
                  <a:pt x="400050" y="371475"/>
                </a:moveTo>
                <a:cubicBezTo>
                  <a:pt x="400050" y="387281"/>
                  <a:pt x="387281" y="400050"/>
                  <a:pt x="371475" y="400050"/>
                </a:cubicBezTo>
                <a:lnTo>
                  <a:pt x="28575" y="400050"/>
                </a:lnTo>
                <a:cubicBezTo>
                  <a:pt x="12769" y="400050"/>
                  <a:pt x="0" y="387281"/>
                  <a:pt x="0" y="371475"/>
                </a:cubicBezTo>
                <a:cubicBezTo>
                  <a:pt x="0" y="355669"/>
                  <a:pt x="12769" y="342900"/>
                  <a:pt x="28575" y="342900"/>
                </a:cubicBezTo>
                <a:lnTo>
                  <a:pt x="371475" y="342900"/>
                </a:lnTo>
                <a:cubicBezTo>
                  <a:pt x="387281" y="342900"/>
                  <a:pt x="400050" y="355669"/>
                  <a:pt x="400050" y="371475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427345" y="38608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Flatten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33695" y="4165600"/>
            <a:ext cx="130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展平为一维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155656" y="3289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0C2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7988618" y="2540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01596" y="0"/>
                </a:moveTo>
                <a:lnTo>
                  <a:pt x="1117604" y="0"/>
                </a:lnTo>
                <a:cubicBezTo>
                  <a:pt x="1173714" y="0"/>
                  <a:pt x="1219200" y="45486"/>
                  <a:pt x="1219200" y="101596"/>
                </a:cubicBezTo>
                <a:lnTo>
                  <a:pt x="1219200" y="1117604"/>
                </a:lnTo>
                <a:cubicBezTo>
                  <a:pt x="1219200" y="1173714"/>
                  <a:pt x="1173714" y="1219200"/>
                  <a:pt x="1117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8369618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7937818" y="3860800"/>
            <a:ext cx="133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全连接层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836061" y="4165600"/>
            <a:ext cx="1701477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2层, 含Dropout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9682480" y="3289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0C2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10515441" y="2540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01596" y="0"/>
                </a:moveTo>
                <a:lnTo>
                  <a:pt x="1117604" y="0"/>
                </a:lnTo>
                <a:cubicBezTo>
                  <a:pt x="1173714" y="0"/>
                  <a:pt x="1219200" y="45486"/>
                  <a:pt x="1219200" y="101596"/>
                </a:cubicBezTo>
                <a:lnTo>
                  <a:pt x="1219200" y="1117604"/>
                </a:lnTo>
                <a:cubicBezTo>
                  <a:pt x="1219200" y="1173714"/>
                  <a:pt x="1173714" y="1219200"/>
                  <a:pt x="1117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10896441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64294"/>
                </a:moveTo>
                <a:cubicBezTo>
                  <a:pt x="0" y="52507"/>
                  <a:pt x="9555" y="42863"/>
                  <a:pt x="21431" y="42863"/>
                </a:cubicBezTo>
                <a:lnTo>
                  <a:pt x="64294" y="42863"/>
                </a:lnTo>
                <a:cubicBezTo>
                  <a:pt x="76170" y="42863"/>
                  <a:pt x="85725" y="52417"/>
                  <a:pt x="85725" y="64294"/>
                </a:cubicBezTo>
                <a:lnTo>
                  <a:pt x="85725" y="157163"/>
                </a:lnTo>
                <a:lnTo>
                  <a:pt x="107156" y="157163"/>
                </a:lnTo>
                <a:cubicBezTo>
                  <a:pt x="119033" y="157163"/>
                  <a:pt x="128588" y="166717"/>
                  <a:pt x="128588" y="178594"/>
                </a:cubicBezTo>
                <a:cubicBezTo>
                  <a:pt x="128588" y="190470"/>
                  <a:pt x="119033" y="200025"/>
                  <a:pt x="107156" y="200025"/>
                </a:cubicBezTo>
                <a:lnTo>
                  <a:pt x="21431" y="200025"/>
                </a:lnTo>
                <a:cubicBezTo>
                  <a:pt x="9555" y="200025"/>
                  <a:pt x="0" y="190470"/>
                  <a:pt x="0" y="178594"/>
                </a:cubicBezTo>
                <a:cubicBezTo>
                  <a:pt x="0" y="166717"/>
                  <a:pt x="9555" y="157163"/>
                  <a:pt x="21431" y="157163"/>
                </a:cubicBezTo>
                <a:lnTo>
                  <a:pt x="42863" y="157163"/>
                </a:lnTo>
                <a:lnTo>
                  <a:pt x="42863" y="85725"/>
                </a:lnTo>
                <a:lnTo>
                  <a:pt x="21431" y="85725"/>
                </a:lnTo>
                <a:cubicBezTo>
                  <a:pt x="9555" y="85725"/>
                  <a:pt x="0" y="76170"/>
                  <a:pt x="0" y="64294"/>
                </a:cubicBezTo>
                <a:close/>
                <a:moveTo>
                  <a:pt x="27146" y="268962"/>
                </a:moveTo>
                <a:cubicBezTo>
                  <a:pt x="37326" y="261283"/>
                  <a:pt x="49738" y="257175"/>
                  <a:pt x="62508" y="257175"/>
                </a:cubicBezTo>
                <a:lnTo>
                  <a:pt x="66883" y="257175"/>
                </a:lnTo>
                <a:cubicBezTo>
                  <a:pt x="96976" y="257175"/>
                  <a:pt x="121444" y="281642"/>
                  <a:pt x="121444" y="311735"/>
                </a:cubicBezTo>
                <a:cubicBezTo>
                  <a:pt x="121444" y="329238"/>
                  <a:pt x="113050" y="345579"/>
                  <a:pt x="98941" y="355848"/>
                </a:cubicBezTo>
                <a:lnTo>
                  <a:pt x="77510" y="371475"/>
                </a:lnTo>
                <a:lnTo>
                  <a:pt x="107156" y="371475"/>
                </a:lnTo>
                <a:cubicBezTo>
                  <a:pt x="119033" y="371475"/>
                  <a:pt x="128588" y="381030"/>
                  <a:pt x="128588" y="392906"/>
                </a:cubicBezTo>
                <a:cubicBezTo>
                  <a:pt x="128588" y="404783"/>
                  <a:pt x="119033" y="414338"/>
                  <a:pt x="107156" y="414338"/>
                </a:cubicBezTo>
                <a:lnTo>
                  <a:pt x="26164" y="414338"/>
                </a:lnTo>
                <a:cubicBezTo>
                  <a:pt x="11698" y="414338"/>
                  <a:pt x="0" y="402640"/>
                  <a:pt x="0" y="388174"/>
                </a:cubicBezTo>
                <a:cubicBezTo>
                  <a:pt x="0" y="379780"/>
                  <a:pt x="4018" y="371921"/>
                  <a:pt x="10805" y="367010"/>
                </a:cubicBezTo>
                <a:lnTo>
                  <a:pt x="73759" y="321201"/>
                </a:lnTo>
                <a:cubicBezTo>
                  <a:pt x="76795" y="318968"/>
                  <a:pt x="78581" y="315486"/>
                  <a:pt x="78581" y="311735"/>
                </a:cubicBezTo>
                <a:cubicBezTo>
                  <a:pt x="78581" y="305306"/>
                  <a:pt x="73313" y="300037"/>
                  <a:pt x="66883" y="300037"/>
                </a:cubicBezTo>
                <a:lnTo>
                  <a:pt x="62508" y="300038"/>
                </a:lnTo>
                <a:cubicBezTo>
                  <a:pt x="59025" y="300038"/>
                  <a:pt x="55632" y="301198"/>
                  <a:pt x="52864" y="303252"/>
                </a:cubicBezTo>
                <a:lnTo>
                  <a:pt x="34290" y="317183"/>
                </a:lnTo>
                <a:cubicBezTo>
                  <a:pt x="24825" y="324326"/>
                  <a:pt x="11430" y="322362"/>
                  <a:pt x="4286" y="312896"/>
                </a:cubicBezTo>
                <a:cubicBezTo>
                  <a:pt x="-2858" y="303431"/>
                  <a:pt x="-893" y="290036"/>
                  <a:pt x="8573" y="282893"/>
                </a:cubicBezTo>
                <a:lnTo>
                  <a:pt x="27146" y="268962"/>
                </a:lnTo>
                <a:close/>
                <a:moveTo>
                  <a:pt x="200025" y="57150"/>
                </a:move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00025" y="114300"/>
                </a:lnTo>
                <a:cubicBezTo>
                  <a:pt x="184219" y="114300"/>
                  <a:pt x="171450" y="101531"/>
                  <a:pt x="171450" y="85725"/>
                </a:cubicBezTo>
                <a:cubicBezTo>
                  <a:pt x="171450" y="69919"/>
                  <a:pt x="184219" y="57150"/>
                  <a:pt x="200025" y="57150"/>
                </a:cubicBezTo>
                <a:close/>
                <a:moveTo>
                  <a:pt x="200025" y="200025"/>
                </a:move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00025" y="257175"/>
                </a:lnTo>
                <a:cubicBezTo>
                  <a:pt x="184219" y="257175"/>
                  <a:pt x="171450" y="244406"/>
                  <a:pt x="171450" y="228600"/>
                </a:cubicBezTo>
                <a:cubicBezTo>
                  <a:pt x="171450" y="212794"/>
                  <a:pt x="184219" y="200025"/>
                  <a:pt x="200025" y="200025"/>
                </a:cubicBez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10464641" y="38608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输出层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470991" y="4165600"/>
            <a:ext cx="130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10类概率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09550" y="48260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结构简洁，参数量小，适合作为</a:t>
            </a:r>
            <a:r>
              <a:rPr lang="en-US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基线模型 </a:t>
            </a:r>
            <a:r>
              <a:rPr 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快速验证数据与训练流程的正确性。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95456" y="1706880"/>
            <a:ext cx="11159882" cy="4654817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604239" y="1168400"/>
            <a:ext cx="1854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SimpleCNN</a:t>
            </a:r>
            <a:endParaRPr 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04239" y="1837382"/>
            <a:ext cx="6096001" cy="452431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class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SimpleCNN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nn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Module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"""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简单的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CNN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模型用于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CIFAR10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分类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"""</a:t>
            </a:r>
            <a:endParaRPr lang="zh-CN" altLang="en-US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def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__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init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__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super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SimpleCNN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self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__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init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__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conv1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nn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Conv2d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kernel_size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padding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conv2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nn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Conv2d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64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kernel_size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padding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conv3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nn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Conv2d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64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128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kernel_size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3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padding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pool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nn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MaxPool2d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fc1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nn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Linear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128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4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4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512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fc2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nn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Linear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512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256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fc3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nn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Linear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256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dropout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nn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Dropout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0.5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064603" y="213946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def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forward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pool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relu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pool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relu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pool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relu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conv3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view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-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128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4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4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relu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fc1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dropout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relu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fc2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self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dropout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x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self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fc3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return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x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68445" y="1996440"/>
            <a:ext cx="0" cy="4145280"/>
          </a:xfrm>
          <a:prstGeom prst="line">
            <a:avLst/>
          </a:prstGeom>
          <a:ln w="28575">
            <a:gradFill flip="none" rotWithShape="1">
              <a:gsLst>
                <a:gs pos="52000">
                  <a:srgbClr val="0E7DF1"/>
                </a:gs>
                <a:gs pos="0">
                  <a:srgbClr val="117BF1">
                    <a:alpha val="17000"/>
                  </a:srgbClr>
                </a:gs>
                <a:gs pos="100000">
                  <a:schemeClr val="accent1">
                    <a:lumMod val="60000"/>
                    <a:lumOff val="40000"/>
                    <a:alpha val="17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802" y="2031365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63974" y="3429000"/>
            <a:ext cx="5178425" cy="19754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001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训练策略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342887" y="181800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342887" y="1818005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8796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损失函数与优化策略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93700" y="2743200"/>
            <a:ext cx="3619500" cy="2422688"/>
          </a:xfrm>
          <a:custGeom>
            <a:avLst/>
            <a:gdLst/>
            <a:ahLst/>
            <a:cxnLst/>
            <a:rect l="l" t="t" r="r" b="b"/>
            <a:pathLst>
              <a:path w="3898900" h="2235200">
                <a:moveTo>
                  <a:pt x="101590" y="0"/>
                </a:moveTo>
                <a:lnTo>
                  <a:pt x="3797310" y="0"/>
                </a:lnTo>
                <a:cubicBezTo>
                  <a:pt x="3853417" y="0"/>
                  <a:pt x="3898900" y="45483"/>
                  <a:pt x="3898900" y="101590"/>
                </a:cubicBezTo>
                <a:lnTo>
                  <a:pt x="3898900" y="2133610"/>
                </a:lnTo>
                <a:cubicBezTo>
                  <a:pt x="3898900" y="2189717"/>
                  <a:pt x="3853417" y="2235200"/>
                  <a:pt x="37973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2029777" y="29464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85725" y="57150"/>
                </a:moveTo>
                <a:lnTo>
                  <a:pt x="257175" y="57150"/>
                </a:lnTo>
                <a:cubicBezTo>
                  <a:pt x="272981" y="57150"/>
                  <a:pt x="285750" y="69919"/>
                  <a:pt x="285750" y="85725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85725" y="142875"/>
                </a:lnTo>
                <a:cubicBezTo>
                  <a:pt x="69919" y="142875"/>
                  <a:pt x="57150" y="130106"/>
                  <a:pt x="57150" y="114300"/>
                </a:cubicBezTo>
                <a:lnTo>
                  <a:pt x="57150" y="85725"/>
                </a:lnTo>
                <a:cubicBezTo>
                  <a:pt x="57150" y="69919"/>
                  <a:pt x="69919" y="57150"/>
                  <a:pt x="85725" y="57150"/>
                </a:cubicBezTo>
                <a:close/>
                <a:moveTo>
                  <a:pt x="100013" y="207169"/>
                </a:moveTo>
                <a:cubicBezTo>
                  <a:pt x="100013" y="218997"/>
                  <a:pt x="90409" y="228600"/>
                  <a:pt x="78581" y="228600"/>
                </a:cubicBezTo>
                <a:cubicBezTo>
                  <a:pt x="66753" y="228600"/>
                  <a:pt x="57150" y="218997"/>
                  <a:pt x="57150" y="207169"/>
                </a:cubicBezTo>
                <a:cubicBezTo>
                  <a:pt x="57150" y="195341"/>
                  <a:pt x="66753" y="185738"/>
                  <a:pt x="78581" y="185738"/>
                </a:cubicBezTo>
                <a:cubicBezTo>
                  <a:pt x="90409" y="185738"/>
                  <a:pt x="100013" y="195341"/>
                  <a:pt x="100013" y="207169"/>
                </a:cubicBezTo>
                <a:close/>
                <a:moveTo>
                  <a:pt x="171450" y="228600"/>
                </a:moveTo>
                <a:cubicBezTo>
                  <a:pt x="159622" y="228600"/>
                  <a:pt x="150019" y="218997"/>
                  <a:pt x="150019" y="207169"/>
                </a:cubicBezTo>
                <a:cubicBezTo>
                  <a:pt x="150019" y="195341"/>
                  <a:pt x="159622" y="185738"/>
                  <a:pt x="171450" y="185738"/>
                </a:cubicBezTo>
                <a:cubicBezTo>
                  <a:pt x="183278" y="185738"/>
                  <a:pt x="192881" y="195341"/>
                  <a:pt x="192881" y="207169"/>
                </a:cubicBezTo>
                <a:cubicBezTo>
                  <a:pt x="192881" y="218997"/>
                  <a:pt x="183278" y="228600"/>
                  <a:pt x="171450" y="228600"/>
                </a:cubicBezTo>
                <a:close/>
                <a:moveTo>
                  <a:pt x="285750" y="207169"/>
                </a:moveTo>
                <a:cubicBezTo>
                  <a:pt x="285750" y="218997"/>
                  <a:pt x="276147" y="228600"/>
                  <a:pt x="264319" y="228600"/>
                </a:cubicBezTo>
                <a:cubicBezTo>
                  <a:pt x="252491" y="228600"/>
                  <a:pt x="242888" y="218997"/>
                  <a:pt x="242888" y="207169"/>
                </a:cubicBezTo>
                <a:cubicBezTo>
                  <a:pt x="242888" y="195341"/>
                  <a:pt x="252491" y="185738"/>
                  <a:pt x="264319" y="185738"/>
                </a:cubicBezTo>
                <a:cubicBezTo>
                  <a:pt x="276147" y="185738"/>
                  <a:pt x="285750" y="195341"/>
                  <a:pt x="285750" y="207169"/>
                </a:cubicBezTo>
                <a:close/>
                <a:moveTo>
                  <a:pt x="78581" y="314325"/>
                </a:moveTo>
                <a:cubicBezTo>
                  <a:pt x="66753" y="314325"/>
                  <a:pt x="57150" y="304722"/>
                  <a:pt x="57150" y="292894"/>
                </a:cubicBezTo>
                <a:cubicBezTo>
                  <a:pt x="57150" y="281066"/>
                  <a:pt x="66753" y="271463"/>
                  <a:pt x="78581" y="271463"/>
                </a:cubicBezTo>
                <a:cubicBezTo>
                  <a:pt x="90409" y="271463"/>
                  <a:pt x="100013" y="281066"/>
                  <a:pt x="100013" y="292894"/>
                </a:cubicBezTo>
                <a:cubicBezTo>
                  <a:pt x="100013" y="304722"/>
                  <a:pt x="90409" y="314325"/>
                  <a:pt x="78581" y="314325"/>
                </a:cubicBezTo>
                <a:close/>
                <a:moveTo>
                  <a:pt x="192881" y="292894"/>
                </a:moveTo>
                <a:cubicBezTo>
                  <a:pt x="192881" y="304722"/>
                  <a:pt x="183278" y="314325"/>
                  <a:pt x="171450" y="314325"/>
                </a:cubicBezTo>
                <a:cubicBezTo>
                  <a:pt x="159622" y="314325"/>
                  <a:pt x="150019" y="304722"/>
                  <a:pt x="150019" y="292894"/>
                </a:cubicBezTo>
                <a:cubicBezTo>
                  <a:pt x="150019" y="281066"/>
                  <a:pt x="159622" y="271463"/>
                  <a:pt x="171450" y="271463"/>
                </a:cubicBezTo>
                <a:cubicBezTo>
                  <a:pt x="183278" y="271463"/>
                  <a:pt x="192881" y="281066"/>
                  <a:pt x="192881" y="292894"/>
                </a:cubicBezTo>
                <a:close/>
                <a:moveTo>
                  <a:pt x="264319" y="314325"/>
                </a:moveTo>
                <a:cubicBezTo>
                  <a:pt x="252491" y="314325"/>
                  <a:pt x="242888" y="304722"/>
                  <a:pt x="242888" y="292894"/>
                </a:cubicBezTo>
                <a:cubicBezTo>
                  <a:pt x="242888" y="281066"/>
                  <a:pt x="252491" y="271463"/>
                  <a:pt x="264319" y="271463"/>
                </a:cubicBezTo>
                <a:cubicBezTo>
                  <a:pt x="276147" y="271463"/>
                  <a:pt x="285750" y="281066"/>
                  <a:pt x="285750" y="292894"/>
                </a:cubicBezTo>
                <a:cubicBezTo>
                  <a:pt x="285750" y="304722"/>
                  <a:pt x="276147" y="314325"/>
                  <a:pt x="264319" y="314325"/>
                </a:cubicBezTo>
                <a:close/>
                <a:moveTo>
                  <a:pt x="57150" y="378619"/>
                </a:moveTo>
                <a:cubicBezTo>
                  <a:pt x="57150" y="366742"/>
                  <a:pt x="66705" y="357188"/>
                  <a:pt x="78581" y="357188"/>
                </a:cubicBezTo>
                <a:lnTo>
                  <a:pt x="178594" y="357188"/>
                </a:lnTo>
                <a:cubicBezTo>
                  <a:pt x="190470" y="357188"/>
                  <a:pt x="200025" y="366742"/>
                  <a:pt x="200025" y="378619"/>
                </a:cubicBezTo>
                <a:cubicBezTo>
                  <a:pt x="200025" y="390495"/>
                  <a:pt x="190470" y="400050"/>
                  <a:pt x="178594" y="400050"/>
                </a:cubicBezTo>
                <a:lnTo>
                  <a:pt x="78581" y="400050"/>
                </a:lnTo>
                <a:cubicBezTo>
                  <a:pt x="66705" y="400050"/>
                  <a:pt x="57150" y="390495"/>
                  <a:pt x="57150" y="378619"/>
                </a:cubicBezTo>
                <a:close/>
                <a:moveTo>
                  <a:pt x="264319" y="357188"/>
                </a:moveTo>
                <a:cubicBezTo>
                  <a:pt x="276195" y="357188"/>
                  <a:pt x="285750" y="366742"/>
                  <a:pt x="285750" y="378619"/>
                </a:cubicBezTo>
                <a:cubicBezTo>
                  <a:pt x="285750" y="390495"/>
                  <a:pt x="276195" y="400050"/>
                  <a:pt x="264319" y="400050"/>
                </a:cubicBezTo>
                <a:cubicBezTo>
                  <a:pt x="252442" y="400050"/>
                  <a:pt x="242888" y="390495"/>
                  <a:pt x="242888" y="378619"/>
                </a:cubicBezTo>
                <a:cubicBezTo>
                  <a:pt x="242888" y="366742"/>
                  <a:pt x="252442" y="357188"/>
                  <a:pt x="264319" y="357188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393700" y="3556000"/>
            <a:ext cx="361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损失函数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3879" y="3978699"/>
            <a:ext cx="3106133" cy="11200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采用</a:t>
            </a: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交叉熵损失 (CrossEntropyLoss)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，适用于多分类任务，有效衡量预测概率分布与真实标签的差异。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88314" y="2743199"/>
            <a:ext cx="3581400" cy="2422689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810091" y="3073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4288314" y="3683000"/>
            <a:ext cx="361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优化器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47032" y="4152900"/>
            <a:ext cx="3309494" cy="736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使用</a:t>
            </a: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Adam优化器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，初始学习率1e-3，权重衰减1e-4，兼顾收敛速度与泛化能力。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44828" y="2743200"/>
            <a:ext cx="3657600" cy="2422688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9761855" y="307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182928" y="3683000"/>
            <a:ext cx="361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学习率调度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1087" y="4106551"/>
            <a:ext cx="3196143" cy="6768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采用</a:t>
            </a: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StepLR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，每10轮学习率乘以0.5，降低后期训练震荡，稳定收敛。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3533465" y="762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损失函数与优化策略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6662" y="1520784"/>
            <a:ext cx="10918676" cy="4717970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70603" y="2027681"/>
            <a:ext cx="44162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for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epoch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in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range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epochs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model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running_loss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0.0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correct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total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for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batch_idx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inputs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targets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in</a:t>
            </a:r>
            <a:endParaRPr lang="en-US" altLang="zh-CN" b="1" i="0" dirty="0">
              <a:solidFill>
                <a:srgbClr val="AA22FF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enumerate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train_loader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dirty="0">
                <a:solidFill>
                  <a:srgbClr val="212121"/>
                </a:solidFill>
                <a:latin typeface="Abadi" panose="020F0502020204030204" pitchFamily="34" charset="0"/>
              </a:rPr>
              <a:t>    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optimizer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zero_grad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outputs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model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inputs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loss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criterion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outputs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targets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loss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backward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optimizer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step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    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69821" y="2171609"/>
            <a:ext cx="59025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if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batch_idx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%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100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    print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f'Epoch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: {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epoch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+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}/{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epochs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}, Batch: {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batch_idx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}/{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len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train_loader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}, Loss: {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loss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item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:.4f}'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scheduler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step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train_acc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100.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correct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/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total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test_acc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evaluate_model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model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test_loader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device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train_losses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append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running_loss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/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len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train_loader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train_accuracies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append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train_acc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test_accuracies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append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test_acc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/>
        </p:nvCxnSpPr>
        <p:spPr>
          <a:xfrm>
            <a:off x="5379720" y="2027681"/>
            <a:ext cx="0" cy="3877873"/>
          </a:xfrm>
          <a:prstGeom prst="line">
            <a:avLst/>
          </a:prstGeom>
          <a:ln w="28575">
            <a:gradFill flip="none" rotWithShape="1">
              <a:gsLst>
                <a:gs pos="52000">
                  <a:srgbClr val="0E7DF1"/>
                </a:gs>
                <a:gs pos="0">
                  <a:srgbClr val="117BF1">
                    <a:alpha val="17000"/>
                  </a:srgb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65" y="2031365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6654" y="3429000"/>
            <a:ext cx="3043555" cy="10058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5400" dirty="0" err="1">
                <a:solidFill>
                  <a:srgbClr val="001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结果分析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235950" y="181800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235950" y="1818005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016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模型性能分析</a:t>
            </a:r>
            <a:endParaRPr lang="en-US" sz="16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" y="1985392"/>
            <a:ext cx="5669165" cy="344609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43" y="1985392"/>
            <a:ext cx="5902359" cy="3446096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914917" y="5511811"/>
            <a:ext cx="2438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训练损失</a:t>
            </a:r>
            <a:endParaRPr lang="en-US" sz="1600" dirty="0"/>
          </a:p>
        </p:txBody>
      </p:sp>
      <p:sp>
        <p:nvSpPr>
          <p:cNvPr id="20" name="Text 1"/>
          <p:cNvSpPr/>
          <p:nvPr/>
        </p:nvSpPr>
        <p:spPr>
          <a:xfrm>
            <a:off x="7919791" y="5511811"/>
            <a:ext cx="2438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预测正确率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395455" y="1520784"/>
            <a:ext cx="11159883" cy="5079532"/>
          </a:xfrm>
          <a:custGeom>
            <a:avLst/>
            <a:gdLst/>
            <a:ahLst/>
            <a:cxnLst/>
            <a:rect l="l" t="t" r="r" b="b"/>
            <a:pathLst>
              <a:path w="3898900" h="1981200">
                <a:moveTo>
                  <a:pt x="101596" y="0"/>
                </a:moveTo>
                <a:lnTo>
                  <a:pt x="3797304" y="0"/>
                </a:lnTo>
                <a:cubicBezTo>
                  <a:pt x="3853414" y="0"/>
                  <a:pt x="3898900" y="45486"/>
                  <a:pt x="3898900" y="101596"/>
                </a:cubicBezTo>
                <a:lnTo>
                  <a:pt x="3898900" y="1879604"/>
                </a:lnTo>
                <a:cubicBezTo>
                  <a:pt x="3898900" y="1935714"/>
                  <a:pt x="3853414" y="1981200"/>
                  <a:pt x="37973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0"/>
          <p:cNvSpPr/>
          <p:nvPr/>
        </p:nvSpPr>
        <p:spPr>
          <a:xfrm>
            <a:off x="158750" y="1016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模型性能分析</a:t>
            </a:r>
            <a:endParaRPr 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395455" y="1835170"/>
            <a:ext cx="586818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def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test_model_performance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model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test_loader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"""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测试模型性能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"""</a:t>
            </a:r>
            <a:endParaRPr lang="zh-CN" altLang="en-US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device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device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</a:t>
            </a:r>
            <a:r>
              <a:rPr lang="en-US" altLang="zh-CN" b="0" i="0" dirty="0" err="1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cuda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if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cuda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is_available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else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</a:t>
            </a:r>
            <a:r>
              <a:rPr lang="en-US" altLang="zh-CN" b="0" i="0" dirty="0" err="1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cpu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"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model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model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device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model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eval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correct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total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class_correct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class_total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with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torch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no_grad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for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inputs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targets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in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test_loader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inputs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targets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inputs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device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targets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to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device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outputs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model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inputs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_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,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predicted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outputs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max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>
              <a:buNone/>
            </a:pP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263640" y="1594683"/>
            <a:ext cx="51663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total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+=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targets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size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correct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+=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predicted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eq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targets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sum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item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for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in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range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targets</a:t>
            </a:r>
            <a:r>
              <a:rPr lang="en-US" altLang="zh-CN" b="1" i="0" dirty="0" err="1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size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    label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targets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class_correct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label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+=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predicted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label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.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item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       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class_total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label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+=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print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f'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整体准确率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: {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100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zh-CN" altLang="en-US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correct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/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total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:.2f}%'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print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'\n</a:t>
            </a:r>
            <a:r>
              <a:rPr lang="zh-CN" altLang="en-US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每个类别的准确率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:'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zh-CN" altLang="en-US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for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in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range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):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accuracy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=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100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*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class_correct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/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class_total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if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class_total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AA22FF"/>
                </a:solidFill>
                <a:effectLst/>
                <a:latin typeface="Abadi" panose="020F0502020204030204" pitchFamily="34" charset="0"/>
              </a:rPr>
              <a:t>&gt;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1" i="0" dirty="0">
                <a:solidFill>
                  <a:srgbClr val="008000"/>
                </a:solidFill>
                <a:effectLst/>
                <a:latin typeface="Abadi" panose="020F0502020204030204" pitchFamily="34" charset="0"/>
              </a:rPr>
              <a:t>else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</a:t>
            </a:r>
            <a:r>
              <a:rPr lang="en-US" altLang="zh-CN" b="0" i="0" dirty="0">
                <a:solidFill>
                  <a:srgbClr val="008800"/>
                </a:solidFill>
                <a:effectLst/>
                <a:latin typeface="Abadi" panose="020F0502020204030204" pitchFamily="34" charset="0"/>
              </a:rPr>
              <a:t>0</a:t>
            </a:r>
            <a:endParaRPr lang="en-US" altLang="zh-CN" b="0" i="0" dirty="0">
              <a:solidFill>
                <a:srgbClr val="212121"/>
              </a:solidFill>
              <a:effectLst/>
              <a:latin typeface="Abadi" panose="020F0502020204030204" pitchFamily="34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        print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(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f'{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classes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[</a:t>
            </a:r>
            <a:r>
              <a:rPr lang="en-US" altLang="zh-CN" b="0" i="0" dirty="0" err="1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i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]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}: {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Abadi" panose="020F0502020204030204" pitchFamily="34" charset="0"/>
              </a:rPr>
              <a:t>accuracy</a:t>
            </a:r>
            <a:r>
              <a:rPr lang="en-US" altLang="zh-CN" b="0" i="0" dirty="0">
                <a:solidFill>
                  <a:srgbClr val="BA2121"/>
                </a:solidFill>
                <a:effectLst/>
                <a:latin typeface="Abadi" panose="020F0502020204030204" pitchFamily="34" charset="0"/>
              </a:rPr>
              <a:t>:.2f}%'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Abadi" panose="020F0502020204030204" pitchFamily="34" charset="0"/>
              </a:rPr>
              <a:t>)</a:t>
            </a:r>
            <a:endParaRPr lang="zh-CN" altLang="en-US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263640" y="1594683"/>
            <a:ext cx="0" cy="5005633"/>
          </a:xfrm>
          <a:prstGeom prst="line">
            <a:avLst/>
          </a:prstGeom>
          <a:ln w="28575">
            <a:gradFill flip="none" rotWithShape="1">
              <a:gsLst>
                <a:gs pos="52000">
                  <a:srgbClr val="0E7DF1"/>
                </a:gs>
                <a:gs pos="0">
                  <a:srgbClr val="117BF1">
                    <a:alpha val="17000"/>
                  </a:srgb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2964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3000" b="1" dirty="0" err="1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模型性能分析</a:t>
            </a:r>
            <a:endParaRPr lang="en-US" altLang="zh-CN" sz="1600" dirty="0"/>
          </a:p>
        </p:txBody>
      </p:sp>
      <p:sp>
        <p:nvSpPr>
          <p:cNvPr id="12" name="Text 7"/>
          <p:cNvSpPr/>
          <p:nvPr/>
        </p:nvSpPr>
        <p:spPr>
          <a:xfrm>
            <a:off x="260350" y="592836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模型对真实场景中的</a:t>
            </a:r>
            <a:r>
              <a:rPr lang="en-US" sz="14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光照、背景变化 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具备一定泛化能力，但部分案例置信度较低，提示需通过</a:t>
            </a:r>
            <a:r>
              <a:rPr lang="en-US" sz="14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更丰富的数据增强 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策略进一步优化。</a:t>
            </a:r>
            <a:endParaRPr lang="en-US" sz="1600" dirty="0"/>
          </a:p>
        </p:txBody>
      </p:sp>
      <p:graphicFrame>
        <p:nvGraphicFramePr>
          <p:cNvPr id="17" name="图表 16"/>
          <p:cNvGraphicFramePr/>
          <p:nvPr/>
        </p:nvGraphicFramePr>
        <p:xfrm>
          <a:off x="1584960" y="1764214"/>
          <a:ext cx="8366760" cy="4067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2964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自定义图像实测与泛化性评估</a:t>
            </a:r>
            <a:endParaRPr 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765" y="1494933"/>
            <a:ext cx="7734970" cy="412277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2964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自定义图像实测与泛化性评估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60350" y="592836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模型对真实场景中的</a:t>
            </a:r>
            <a:r>
              <a:rPr lang="en-US" sz="14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光照、背景变化 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具备一定泛化能力，但部分案例置信度较低，提示需通过</a:t>
            </a:r>
            <a:r>
              <a:rPr lang="en-US" sz="14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更丰富的数据增强 </a:t>
            </a: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策略进一步优化。</a:t>
            </a:r>
            <a:endParaRPr 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49" y="1607642"/>
            <a:ext cx="8176969" cy="4099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105" y="1920240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1875" y="3215640"/>
            <a:ext cx="3703955" cy="12954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001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38310" y="138874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378190" y="1706880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5748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项目总结与核心收获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4384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572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90550" y="2921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270000" y="26416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掌握完整流程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70000" y="2997200"/>
            <a:ext cx="4559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从数据管道、模型设计、训练脚本到结果可视化，掌握了PyTorch项目的标准开发流程。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8400" y="24384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4516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642100" y="292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264400" y="26416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理解优化技巧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64400" y="2997200"/>
            <a:ext cx="4559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通过对比实验，直观体会了BatchNorm、学习率调度等技巧对模型性能的关键影响。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4000" y="40132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647700" y="4495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1797" y="175974"/>
                </a:moveTo>
                <a:cubicBezTo>
                  <a:pt x="96917" y="169962"/>
                  <a:pt x="96262" y="160973"/>
                  <a:pt x="90249" y="155853"/>
                </a:cubicBezTo>
                <a:cubicBezTo>
                  <a:pt x="84237" y="150733"/>
                  <a:pt x="75248" y="151388"/>
                  <a:pt x="70128" y="157401"/>
                </a:cubicBezTo>
                <a:lnTo>
                  <a:pt x="41553" y="190738"/>
                </a:lnTo>
                <a:cubicBezTo>
                  <a:pt x="36969" y="196096"/>
                  <a:pt x="36969" y="203954"/>
                  <a:pt x="41553" y="209312"/>
                </a:cubicBezTo>
                <a:lnTo>
                  <a:pt x="70128" y="242649"/>
                </a:lnTo>
                <a:cubicBezTo>
                  <a:pt x="75248" y="248662"/>
                  <a:pt x="84296" y="249317"/>
                  <a:pt x="90249" y="244197"/>
                </a:cubicBezTo>
                <a:cubicBezTo>
                  <a:pt x="96203" y="239078"/>
                  <a:pt x="96917" y="230029"/>
                  <a:pt x="91797" y="224076"/>
                </a:cubicBezTo>
                <a:lnTo>
                  <a:pt x="71199" y="200025"/>
                </a:lnTo>
                <a:lnTo>
                  <a:pt x="91797" y="175974"/>
                </a:lnTo>
                <a:close/>
                <a:moveTo>
                  <a:pt x="158472" y="157401"/>
                </a:moveTo>
                <a:cubicBezTo>
                  <a:pt x="153353" y="151388"/>
                  <a:pt x="144304" y="150733"/>
                  <a:pt x="138351" y="155853"/>
                </a:cubicBezTo>
                <a:cubicBezTo>
                  <a:pt x="132398" y="160973"/>
                  <a:pt x="131683" y="170021"/>
                  <a:pt x="136803" y="175974"/>
                </a:cubicBezTo>
                <a:lnTo>
                  <a:pt x="157401" y="200025"/>
                </a:lnTo>
                <a:lnTo>
                  <a:pt x="136803" y="224076"/>
                </a:lnTo>
                <a:cubicBezTo>
                  <a:pt x="131683" y="230088"/>
                  <a:pt x="132338" y="239078"/>
                  <a:pt x="138351" y="244197"/>
                </a:cubicBezTo>
                <a:cubicBezTo>
                  <a:pt x="144363" y="249317"/>
                  <a:pt x="153353" y="248662"/>
                  <a:pt x="158472" y="242649"/>
                </a:cubicBezTo>
                <a:lnTo>
                  <a:pt x="187047" y="209312"/>
                </a:lnTo>
                <a:cubicBezTo>
                  <a:pt x="191631" y="203954"/>
                  <a:pt x="191631" y="196096"/>
                  <a:pt x="187047" y="190738"/>
                </a:cubicBezTo>
                <a:lnTo>
                  <a:pt x="158472" y="157401"/>
                </a:ln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270000" y="42164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沉淀项目代码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70000" y="4572000"/>
            <a:ext cx="4559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代码结构清晰，注释详尽，已封装为可复用模块，可直接迁移至其他图像分类任务。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8400" y="4013200"/>
            <a:ext cx="5689600" cy="1270000"/>
          </a:xfrm>
          <a:custGeom>
            <a:avLst/>
            <a:gdLst/>
            <a:ahLst/>
            <a:cxnLst/>
            <a:rect l="l" t="t" r="r" b="b"/>
            <a:pathLst>
              <a:path w="5689600" h="127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168400"/>
                </a:lnTo>
                <a:cubicBezTo>
                  <a:pt x="5689600" y="1224475"/>
                  <a:pt x="5644075" y="1270000"/>
                  <a:pt x="55880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6451600" y="434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6604000" y="449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4A90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264400" y="42164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7B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学会性能分析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64400" y="4572000"/>
            <a:ext cx="4559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能够通过训练曲线和混淆矩阵诊断模型问题，为后续优化提供数据驱动的方向。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803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后续优化与未来展望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3479645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0C2E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203200" y="4749645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持续优化，将模型准确率推向</a:t>
            </a:r>
            <a:r>
              <a:rPr lang="en-US" sz="1600" dirty="0">
                <a:solidFill>
                  <a:srgbClr val="333333"/>
                </a:solidFill>
                <a:highlight>
                  <a:srgbClr val="80C2EE">
                    <a:alpha val="100000"/>
                  </a:srgbClr>
                </a:highlight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 90%以上 </a:t>
            </a:r>
            <a:r>
              <a:rPr lang="en-US" sz="16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，并探索其在实际场景中的应用价值。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05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714500" y="302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289050" y="37338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模型结构升级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0386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引入残差连接、注意力机制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799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533900" y="302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108450" y="37338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数据增强增强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31711" y="4038600"/>
            <a:ext cx="2311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采用AutoAugment、CutMix策略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993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7353300" y="302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069" y="-774"/>
                </a:moveTo>
                <a:cubicBezTo>
                  <a:pt x="158770" y="-6727"/>
                  <a:pt x="146030" y="-6727"/>
                  <a:pt x="135731" y="-774"/>
                </a:cubicBezTo>
                <a:lnTo>
                  <a:pt x="85606" y="28158"/>
                </a:lnTo>
                <a:cubicBezTo>
                  <a:pt x="75307" y="34111"/>
                  <a:pt x="68937" y="45125"/>
                  <a:pt x="68937" y="57031"/>
                </a:cubicBezTo>
                <a:lnTo>
                  <a:pt x="68937" y="117693"/>
                </a:lnTo>
                <a:lnTo>
                  <a:pt x="16371" y="148054"/>
                </a:lnTo>
                <a:cubicBezTo>
                  <a:pt x="6072" y="154007"/>
                  <a:pt x="-298" y="165021"/>
                  <a:pt x="-298" y="176927"/>
                </a:cubicBezTo>
                <a:lnTo>
                  <a:pt x="-298" y="234851"/>
                </a:lnTo>
                <a:cubicBezTo>
                  <a:pt x="-298" y="246757"/>
                  <a:pt x="6072" y="257770"/>
                  <a:pt x="16371" y="263723"/>
                </a:cubicBezTo>
                <a:lnTo>
                  <a:pt x="66556" y="292656"/>
                </a:lnTo>
                <a:cubicBezTo>
                  <a:pt x="76855" y="298609"/>
                  <a:pt x="89595" y="298609"/>
                  <a:pt x="99893" y="292656"/>
                </a:cubicBezTo>
                <a:lnTo>
                  <a:pt x="152460" y="262295"/>
                </a:lnTo>
                <a:lnTo>
                  <a:pt x="205026" y="292656"/>
                </a:lnTo>
                <a:cubicBezTo>
                  <a:pt x="215325" y="298609"/>
                  <a:pt x="228064" y="298609"/>
                  <a:pt x="238363" y="292656"/>
                </a:cubicBezTo>
                <a:lnTo>
                  <a:pt x="288429" y="263723"/>
                </a:lnTo>
                <a:cubicBezTo>
                  <a:pt x="298728" y="257770"/>
                  <a:pt x="305098" y="246757"/>
                  <a:pt x="305098" y="234851"/>
                </a:cubicBezTo>
                <a:lnTo>
                  <a:pt x="305098" y="176927"/>
                </a:lnTo>
                <a:cubicBezTo>
                  <a:pt x="305098" y="165021"/>
                  <a:pt x="298728" y="154007"/>
                  <a:pt x="288429" y="148054"/>
                </a:cubicBezTo>
                <a:lnTo>
                  <a:pt x="235863" y="117693"/>
                </a:lnTo>
                <a:lnTo>
                  <a:pt x="235863" y="57031"/>
                </a:lnTo>
                <a:cubicBezTo>
                  <a:pt x="235863" y="45125"/>
                  <a:pt x="229493" y="34111"/>
                  <a:pt x="219194" y="28158"/>
                </a:cubicBezTo>
                <a:lnTo>
                  <a:pt x="169069" y="-774"/>
                </a:lnTo>
                <a:close/>
                <a:moveTo>
                  <a:pt x="138113" y="174188"/>
                </a:moveTo>
                <a:lnTo>
                  <a:pt x="138113" y="237589"/>
                </a:lnTo>
                <a:lnTo>
                  <a:pt x="85546" y="267950"/>
                </a:lnTo>
                <a:cubicBezTo>
                  <a:pt x="84832" y="268367"/>
                  <a:pt x="83999" y="268605"/>
                  <a:pt x="83165" y="268605"/>
                </a:cubicBezTo>
                <a:lnTo>
                  <a:pt x="83165" y="205919"/>
                </a:lnTo>
                <a:lnTo>
                  <a:pt x="138113" y="174188"/>
                </a:lnTo>
                <a:close/>
                <a:moveTo>
                  <a:pt x="275868" y="174546"/>
                </a:moveTo>
                <a:cubicBezTo>
                  <a:pt x="276285" y="175260"/>
                  <a:pt x="276523" y="176093"/>
                  <a:pt x="276523" y="176927"/>
                </a:cubicBezTo>
                <a:lnTo>
                  <a:pt x="276523" y="234851"/>
                </a:lnTo>
                <a:cubicBezTo>
                  <a:pt x="276523" y="236577"/>
                  <a:pt x="275630" y="238125"/>
                  <a:pt x="274141" y="238958"/>
                </a:cubicBezTo>
                <a:lnTo>
                  <a:pt x="223957" y="267891"/>
                </a:lnTo>
                <a:cubicBezTo>
                  <a:pt x="223242" y="268307"/>
                  <a:pt x="222409" y="268545"/>
                  <a:pt x="221575" y="268545"/>
                </a:cubicBezTo>
                <a:lnTo>
                  <a:pt x="221575" y="205859"/>
                </a:lnTo>
                <a:lnTo>
                  <a:pt x="275868" y="174546"/>
                </a:lnTo>
                <a:close/>
                <a:moveTo>
                  <a:pt x="207347" y="57031"/>
                </a:moveTo>
                <a:lnTo>
                  <a:pt x="207347" y="117693"/>
                </a:lnTo>
                <a:lnTo>
                  <a:pt x="152400" y="149423"/>
                </a:lnTo>
                <a:lnTo>
                  <a:pt x="152400" y="86023"/>
                </a:lnTo>
                <a:lnTo>
                  <a:pt x="206692" y="54709"/>
                </a:lnTo>
                <a:cubicBezTo>
                  <a:pt x="207109" y="55424"/>
                  <a:pt x="207347" y="56257"/>
                  <a:pt x="207347" y="5709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105650" y="37338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模型集成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77000" y="4038600"/>
            <a:ext cx="2057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融合多模型预测，提升泛化性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9187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0210800" y="3022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9925050" y="37338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模型部署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0" y="4038600"/>
            <a:ext cx="1447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SC" pitchFamily="34" charset="-120"/>
              </a:rPr>
              <a:t>轻量化与移动端应用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815" y="2018447"/>
            <a:ext cx="7420946" cy="11803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51815" y="2018447"/>
            <a:ext cx="7420946" cy="11803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汉仪中圆B5" panose="02010600000101010101" charset="-120"/>
                <a:ea typeface="汉仪中圆B5" panose="02010600000101010101" charset="-120"/>
                <a:cs typeface="MiSans" pitchFamily="34" charset="-120"/>
              </a:rPr>
              <a:t>感谢您的观看</a:t>
            </a:r>
            <a:endParaRPr lang="en-US" sz="6000" b="1" dirty="0">
              <a:solidFill>
                <a:srgbClr val="000000"/>
              </a:solidFill>
              <a:latin typeface="汉仪中圆B5" panose="02010600000101010101" charset="-120"/>
              <a:ea typeface="汉仪中圆B5" panose="02010600000101010101" charset="-120"/>
              <a:cs typeface="MiSans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8810" y="3199315"/>
            <a:ext cx="7420946" cy="6196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38810" y="3199315"/>
            <a:ext cx="7420946" cy="6196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1577" y="239205"/>
            <a:ext cx="2880000" cy="50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51815" y="624826"/>
            <a:ext cx="2880000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汇报日期：2025/12/08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1536" y="4664688"/>
            <a:ext cx="2880000" cy="54539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C53FC"/>
              </a:gs>
              <a:gs pos="87000">
                <a:srgbClr val="766BFD"/>
              </a:gs>
              <a:gs pos="100000">
                <a:srgbClr val="766BFD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51536" y="4664688"/>
            <a:ext cx="2880000" cy="5453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551815" y="3818937"/>
            <a:ext cx="6097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源码：</a:t>
            </a:r>
            <a:r>
              <a:rPr lang="en-US" altLang="zh-CN" dirty="0"/>
              <a:t>https://www.github.flycode/cnn_learn_cifar.git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4799</Words>
  <Application>WPS 演示</Application>
  <PresentationFormat>宽屏</PresentationFormat>
  <Paragraphs>322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DejaVu Sans</vt:lpstr>
      <vt:lpstr>MiSans</vt:lpstr>
      <vt:lpstr>C059</vt:lpstr>
      <vt:lpstr>MiSans</vt:lpstr>
      <vt:lpstr>MiSans</vt:lpstr>
      <vt:lpstr>黑体</vt:lpstr>
      <vt:lpstr>Noto Sans CJK SC</vt:lpstr>
      <vt:lpstr>Noto Sans SC</vt:lpstr>
      <vt:lpstr>Calibri</vt:lpstr>
      <vt:lpstr>方正仿宋_GBK</vt:lpstr>
      <vt:lpstr>微软雅黑</vt:lpstr>
      <vt:lpstr>Droid Sans Fallback</vt:lpstr>
      <vt:lpstr>宋体</vt:lpstr>
      <vt:lpstr>Arial Unicode MS</vt:lpstr>
      <vt:lpstr>等线</vt:lpstr>
      <vt:lpstr>Noto Serif CJK SC</vt:lpstr>
      <vt:lpstr>Abadi</vt:lpstr>
      <vt:lpstr>Liberation Sans</vt:lpstr>
      <vt:lpstr>Noto Color Emoji</vt:lpstr>
      <vt:lpstr>汉仪中圆B5</vt:lpstr>
      <vt:lpstr>AR PL UKai TW</vt:lpstr>
      <vt:lpstr>AR PL UKai CN</vt:lpstr>
      <vt:lpstr>Bitstream Charter</vt:lpstr>
      <vt:lpstr>汉仪叶叶相思体简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CIFAR10图像识别项目复盘</dc:title>
  <dc:creator>Kimi</dc:creator>
  <dc:subject>CIFAR10图像识别项目复盘</dc:subject>
  <cp:lastModifiedBy>薛定谔不养猫</cp:lastModifiedBy>
  <cp:revision>7</cp:revision>
  <dcterms:created xsi:type="dcterms:W3CDTF">2025-12-04T13:23:30Z</dcterms:created>
  <dcterms:modified xsi:type="dcterms:W3CDTF">2025-12-04T13:23:30Z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{"Label":"CIFAR10图像识别项目复盘","ContentProducer":"001191110108MACG2KBH8F10000","ProduceID":"d4cr92g1gem7o9i9npd0","ReservedCode1":"","ContentPropagator":"001191110108MACG2KBH8F20000","PropagateID":"d4cr92g1gem7o9i9npd0","ReservedCode2":""}</vt:lpwstr>
  </property>
  <property fmtid="{D5CDD505-2E9C-101B-9397-08002B2CF9AE}" pid="3" name="ICV">
    <vt:lpwstr>B9FEDA52DCEADDF8238B31697B3F263D_42</vt:lpwstr>
  </property>
  <property fmtid="{D5CDD505-2E9C-101B-9397-08002B2CF9AE}" pid="4" name="KSOProductBuildVer">
    <vt:lpwstr>2052-12.1.2.23578</vt:lpwstr>
  </property>
</Properties>
</file>